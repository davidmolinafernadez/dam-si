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066d7f731e441e" /><Relationship Type="http://schemas.openxmlformats.org/officeDocument/2006/relationships/extended-properties" Target="/docProps/app.xml" Id="R895831b491a242ce" /><Relationship Type="http://schemas.openxmlformats.org/officeDocument/2006/relationships/officeDocument" Target="/ppt/presentation.xml" Id="R905243e71f9641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07d1faccb64ab9"/>
  </p:sldMasterIdLst>
  <p:notesMasterIdLst>
    <p:notesMasterId xmlns:r="http://schemas.openxmlformats.org/officeDocument/2006/relationships" r:id="Raa0aec28870b458e"/>
  </p:notesMasterIdLst>
  <p:sldIdLst>
    <p:sldId xmlns:r="http://schemas.openxmlformats.org/officeDocument/2006/relationships" id="256" r:id="R184cabc5fbe1414b"/>
    <p:sldId xmlns:r="http://schemas.openxmlformats.org/officeDocument/2006/relationships" id="257" r:id="Rc254c05afc2e4c9a"/>
    <p:sldId xmlns:r="http://schemas.openxmlformats.org/officeDocument/2006/relationships" id="258" r:id="Rc16db0a7a608479e"/>
    <p:sldId xmlns:r="http://schemas.openxmlformats.org/officeDocument/2006/relationships" id="259" r:id="R58277d23fe4b42cd"/>
    <p:sldId xmlns:r="http://schemas.openxmlformats.org/officeDocument/2006/relationships" id="260" r:id="Rb0a8d377b617490a"/>
    <p:sldId xmlns:r="http://schemas.openxmlformats.org/officeDocument/2006/relationships" id="261" r:id="Rb5c4eaaf93ba48af"/>
    <p:sldId xmlns:r="http://schemas.openxmlformats.org/officeDocument/2006/relationships" id="262" r:id="Rfc75ee67deb14529"/>
    <p:sldId xmlns:r="http://schemas.openxmlformats.org/officeDocument/2006/relationships" id="263" r:id="Rbb9ed905774c444d"/>
    <p:sldId xmlns:r="http://schemas.openxmlformats.org/officeDocument/2006/relationships" id="264" r:id="R859121f545d645b8"/>
    <p:sldId xmlns:r="http://schemas.openxmlformats.org/officeDocument/2006/relationships" id="265" r:id="Reda74daab98c4637"/>
    <p:sldId xmlns:r="http://schemas.openxmlformats.org/officeDocument/2006/relationships" id="266" r:id="Rec80f4ff5d254c3a"/>
    <p:sldId xmlns:r="http://schemas.openxmlformats.org/officeDocument/2006/relationships" id="267" r:id="Rde95895eaa6046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0a0f143eee4f57" /><Relationship Type="http://schemas.openxmlformats.org/officeDocument/2006/relationships/slideMaster" Target="/ppt/slideMasters/slideMaster1.xml" Id="R8a07d1faccb64ab9" /><Relationship Type="http://schemas.openxmlformats.org/officeDocument/2006/relationships/notesMaster" Target="/ppt/notesMasters/notesMaster1.xml" Id="Raa0aec28870b458e" /><Relationship Type="http://schemas.openxmlformats.org/officeDocument/2006/relationships/presProps" Target="/ppt/presProps.xml" Id="Rf09cba296ef14ea6" /><Relationship Type="http://schemas.openxmlformats.org/officeDocument/2006/relationships/tableStyles" Target="/ppt/tableStyles.xml" Id="R12a3651f72e34605" /><Relationship Type="http://schemas.openxmlformats.org/officeDocument/2006/relationships/slide" Target="/ppt/slides/slide1.xml" Id="R184cabc5fbe1414b" /><Relationship Type="http://schemas.openxmlformats.org/officeDocument/2006/relationships/slide" Target="/ppt/slides/slide2.xml" Id="Rc254c05afc2e4c9a" /><Relationship Type="http://schemas.openxmlformats.org/officeDocument/2006/relationships/slide" Target="/ppt/slides/slide3.xml" Id="Rc16db0a7a608479e" /><Relationship Type="http://schemas.openxmlformats.org/officeDocument/2006/relationships/slide" Target="/ppt/slides/slide4.xml" Id="R58277d23fe4b42cd" /><Relationship Type="http://schemas.openxmlformats.org/officeDocument/2006/relationships/slide" Target="/ppt/slides/slide5.xml" Id="Rb0a8d377b617490a" /><Relationship Type="http://schemas.openxmlformats.org/officeDocument/2006/relationships/slide" Target="/ppt/slides/slide6.xml" Id="Rb5c4eaaf93ba48af" /><Relationship Type="http://schemas.openxmlformats.org/officeDocument/2006/relationships/slide" Target="/ppt/slides/slide7.xml" Id="Rfc75ee67deb14529" /><Relationship Type="http://schemas.openxmlformats.org/officeDocument/2006/relationships/slide" Target="/ppt/slides/slide8.xml" Id="Rbb9ed905774c444d" /><Relationship Type="http://schemas.openxmlformats.org/officeDocument/2006/relationships/slide" Target="/ppt/slides/slide9.xml" Id="R859121f545d645b8" /><Relationship Type="http://schemas.openxmlformats.org/officeDocument/2006/relationships/slide" Target="/ppt/slides/slide10.xml" Id="Reda74daab98c4637" /><Relationship Type="http://schemas.openxmlformats.org/officeDocument/2006/relationships/slide" Target="/ppt/slides/slide11.xml" Id="Rec80f4ff5d254c3a" /><Relationship Type="http://schemas.openxmlformats.org/officeDocument/2006/relationships/slide" Target="/ppt/slides/slide12.xml" Id="Rde95895eaa6046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b38e6da97f46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8bc2f139414d39" /><Relationship Type="http://schemas.openxmlformats.org/officeDocument/2006/relationships/notesMaster" Target="/ppt/notesMasters/notesMaster1.xml" Id="R5929b827fa9b43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a56ef44ba8490a" /><Relationship Type="http://schemas.openxmlformats.org/officeDocument/2006/relationships/notesMaster" Target="/ppt/notesMasters/notesMaster1.xml" Id="Re5f24bfbbfa643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5b58be92c74730" /><Relationship Type="http://schemas.openxmlformats.org/officeDocument/2006/relationships/notesMaster" Target="/ppt/notesMasters/notesMaster1.xml" Id="R35a6fa47843c4f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23d419d7a848d4" /><Relationship Type="http://schemas.openxmlformats.org/officeDocument/2006/relationships/notesMaster" Target="/ppt/notesMasters/notesMaster1.xml" Id="Rfe84c9ad4b9d4a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ce17d5509849c5" /><Relationship Type="http://schemas.openxmlformats.org/officeDocument/2006/relationships/notesMaster" Target="/ppt/notesMasters/notesMaster1.xml" Id="R8ce6db4db3c048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588715ff6245a4" /><Relationship Type="http://schemas.openxmlformats.org/officeDocument/2006/relationships/notesMaster" Target="/ppt/notesMasters/notesMaster1.xml" Id="Re18b83b17c464c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f414ac225f470e" /><Relationship Type="http://schemas.openxmlformats.org/officeDocument/2006/relationships/notesMaster" Target="/ppt/notesMasters/notesMaster1.xml" Id="Rc5a8fba72bd243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74072ea50145c5" /><Relationship Type="http://schemas.openxmlformats.org/officeDocument/2006/relationships/notesMaster" Target="/ppt/notesMasters/notesMaster1.xml" Id="Rcf4cc128a9e54a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4d6bec3cc1495f" /><Relationship Type="http://schemas.openxmlformats.org/officeDocument/2006/relationships/notesMaster" Target="/ppt/notesMasters/notesMaster1.xml" Id="R374c500a97cb469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50afd2b0d843d2" /><Relationship Type="http://schemas.openxmlformats.org/officeDocument/2006/relationships/notesMaster" Target="/ppt/notesMasters/notesMaster1.xml" Id="R9906d01963d7482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95980d76b64b4f" /><Relationship Type="http://schemas.openxmlformats.org/officeDocument/2006/relationships/notesMaster" Target="/ppt/notesMasters/notesMaster1.xml" Id="R9e50589f535f4b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3e187d8e6a4dfd" /><Relationship Type="http://schemas.openxmlformats.org/officeDocument/2006/relationships/notesMaster" Target="/ppt/notesMasters/notesMaster1.xml" Id="R76ce31537a9349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Imagen de portada generada para esta presentación con OpenAI ImageGen (2026).</a:t>
            </a:r>
          </a:p>
          <a:p xmlns:a="http://schemas.openxmlformats.org/drawingml/2006/main">
            <a:r>
              <a:t>- Sistemes Informàtics 25-26_Presentacio.pdf (material docente de referencia aportado por el usuario).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apartados 1–3 (competencias y resultados de aprendizaje).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temporalización: 160 h.</a:t>
            </a:r>
          </a:p>
          <a:p xmlns:a="http://schemas.openxmlformats.org/drawingml/2006/main">
            <a:r>
              <a:t>- HORARIS 26-27 - 0720_MOLINA,DAVID.pdf: SI de 1.º DAM, 5 sesiones de 55 min = 275 min = 4 h 35 min semanales.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HORARIS 26-27 - 0720_MOLINA,DAVID.pdf: horario oficial de SI, grupo CS.DAM-1, aula C-1-2.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apartados 3 y 4 (unidades y temporalización).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 5 (material y metodología).</a:t>
            </a:r>
          </a:p>
          <a:p xmlns:a="http://schemas.openxmlformats.org/drawingml/2006/main">
            <a:r>
              <a:t>- Sistemes Informàtics 25-26_Presentacio.pdf, diapositivas 14 y 20 (documentación y evidencias).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 5.1 (software previsto).</a:t>
            </a:r>
          </a:p>
          <a:p xmlns:a="http://schemas.openxmlformats.org/drawingml/2006/main">
            <a:r>
              <a:t>- Ilustración propia de placa base creada para los materiales de UD1 con OpenAI ImageGen (2026).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9 (ponderación 70/30).</a:t>
            </a:r>
          </a:p>
          <a:p xmlns:a="http://schemas.openxmlformats.org/drawingml/2006/main">
            <a:r>
              <a:t>- Guia_didactica_25_26.pdf, apartado 6 (evaluación y obligatoriedad de prácticas).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9 (mínimos y requisitos).</a:t>
            </a:r>
          </a:p>
          <a:p xmlns:a="http://schemas.openxmlformats.org/drawingml/2006/main">
            <a:r>
              <a:t>- Guia_didactica_25_26.pdf, apartado 6 (evaluación ordinaria y extraordinaria).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16 (normas de aula, RGPD, plagio y uso de IA).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19 (actividad de la primera semana).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 docente del módulo: https://davidmolinafernadez.github.io/DAM-SI/</a:t>
            </a:r>
          </a:p>
          <a:p xmlns:a="http://schemas.openxmlformats.org/drawingml/2006/main">
            <a:r>
              <a:t>- Sistemes Informàtics 25-26_Presentacio.pdf, diapositiva 21 (canales de contacto).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c86b349f34b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3cf85a5dbd4212" /><Relationship Type="http://schemas.openxmlformats.org/officeDocument/2006/relationships/slideLayout" Target="/ppt/slideLayouts/slideLayout1.xml" Id="R713c27a041de4a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3c27a041de4a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4da5d2dbe46fb" /><Relationship Type="http://schemas.openxmlformats.org/officeDocument/2006/relationships/image" Target="/ppt/media/image.png" Id="Rf2319cedb962440f" /><Relationship Type="http://schemas.openxmlformats.org/officeDocument/2006/relationships/notesSlide" Target="/ppt/notesSlides/notesSlide1.xml" Id="R526092c7c7f54b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0c1a64ac442f9" /><Relationship Type="http://schemas.openxmlformats.org/officeDocument/2006/relationships/notesSlide" Target="/ppt/notesSlides/notesSlide2.xml" Id="R417a773ed09145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3a46fc79c43bb" /><Relationship Type="http://schemas.openxmlformats.org/officeDocument/2006/relationships/notesSlide" Target="/ppt/notesSlides/notesSlide3.xml" Id="Rcedc0c13f39046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c0e6516bb4094" /><Relationship Type="http://schemas.openxmlformats.org/officeDocument/2006/relationships/notesSlide" Target="/ppt/notesSlides/notesSlide4.xml" Id="R44e01dc01d354b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5b97eda864e20" /><Relationship Type="http://schemas.openxmlformats.org/officeDocument/2006/relationships/notesSlide" Target="/ppt/notesSlides/notesSlide5.xml" Id="Rcb4732d0dbca4a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703e2ca574074" /><Relationship Type="http://schemas.openxmlformats.org/officeDocument/2006/relationships/notesSlide" Target="/ppt/notesSlides/notesSlide6.xml" Id="Rcb0c7c653c0a46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973af6bc64f26" /><Relationship Type="http://schemas.openxmlformats.org/officeDocument/2006/relationships/image" Target="/ppt/media/image2.png" Id="Re438158abf744d18" /><Relationship Type="http://schemas.openxmlformats.org/officeDocument/2006/relationships/notesSlide" Target="/ppt/notesSlides/notesSlide7.xml" Id="R2c28773529254e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89d0fd5d24344" /><Relationship Type="http://schemas.openxmlformats.org/officeDocument/2006/relationships/notesSlide" Target="/ppt/notesSlides/notesSlide8.xml" Id="R5ec5dcd07f9542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52253837e498a" /><Relationship Type="http://schemas.openxmlformats.org/officeDocument/2006/relationships/notesSlide" Target="/ppt/notesSlides/notesSlide9.xml" Id="R631127fe678a45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2a92c11224323" /><Relationship Type="http://schemas.openxmlformats.org/officeDocument/2006/relationships/notesSlide" Target="/ppt/notesSlides/notesSlide10.xml" Id="Re87b4825309c4c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ea10d534642a0" /><Relationship Type="http://schemas.openxmlformats.org/officeDocument/2006/relationships/notesSlide" Target="/ppt/notesSlides/notesSlide11.xml" Id="R39af8c33045f47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f68cc5e9f4b41" /><Relationship Type="http://schemas.openxmlformats.org/officeDocument/2006/relationships/notesSlide" Target="/ppt/notesSlides/notesSlide12.xml" Id="Ra5e766dd7b6846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19cedb962440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36EA8-CD59-44EB-82C8-84D0E89F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7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>
              <a:alpha val="9098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957E7-3134-4D0A-B2FD-CB19C436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CA0BD-E935-4192-B286-35100F06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552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SISTEMAS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INFORMÁTICOS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BE5C6-6172-489B-B9AA-34B3C15B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C7E8"/>
                </a:solidFill>
              </a:defRPr>
            </a:pPr>
            <a:r>
              <a:rPr sz="1950" b="1">
                <a:solidFill>
                  <a:srgbClr val="22C7E8"/>
                </a:solidFill>
              </a:rPr>
              <a:t>Entender. Construir. Diagnosticar.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C87F70-3010-4F70-AC9E-18AB8D3B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1.º DAW · Curso 2026–2027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DFE0B-39A1-4DB4-BD35-5AB9F848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D7E4"/>
                </a:solidFill>
              </a:defRPr>
            </a:pPr>
            <a:r>
              <a:rPr sz="1350" b="0">
                <a:solidFill>
                  <a:srgbClr val="B9D7E4"/>
                </a:solidFill>
              </a:rPr>
              <a:t>Hardware · Sistemas operativos · Virtualización · Redes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D6A63-BC52-4995-A57B-8651389E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D7E4"/>
                </a:solidFill>
              </a:defRPr>
            </a:pPr>
            <a:r>
              <a:rPr sz="1050" b="1">
                <a:solidFill>
                  <a:srgbClr val="B9D7E4"/>
                </a:solidFill>
              </a:rPr>
              <a:t>Presentación del módulo</a:t>
            </a:r>
          </a:p>
        </p:txBody>
      </p:sp>
    </p:spTree>
    <p:extLst>
      <p:ext uri="{BB962C8B-B14F-4D97-AF65-F5344CB8AC3E}">
        <p14:creationId xmlns:p14="http://schemas.microsoft.com/office/powerpoint/2010/main" val="9029212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2381E2-2598-4657-AEA2-55A70CF4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401F6-06D0-425D-82C9-91510D6C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Aquí aprenderás a hacer que un sistema funcione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37101-5941-40F9-8F83-A91C80BB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No solo conocerás componentes: tomarás decisiones, montarás entornos y resolverás incidencias.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D8E60-D17D-4644-8197-9AABD3FF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379D0-9DF4-4CAA-94F4-3A26927E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A524"/>
                </a:solidFill>
              </a:defRPr>
            </a:pPr>
            <a:r>
              <a:rPr sz="2550" b="1">
                <a:solidFill>
                  <a:srgbClr val="F5A524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BABFB-91D6-4A48-9E82-22BB105A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F0E45-3283-44DC-976D-1AFB23B9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63A"/>
                </a:solidFill>
              </a:defRPr>
            </a:pPr>
            <a:r>
              <a:rPr sz="1800" b="1">
                <a:solidFill>
                  <a:srgbClr val="10263A"/>
                </a:solidFill>
              </a:rPr>
              <a:t>COMPRENDER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BF4F49-1583-484F-812F-C1200926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184"/>
                </a:solidFill>
              </a:defRPr>
            </a:pPr>
            <a:r>
              <a:rPr sz="1500" b="0">
                <a:solidFill>
                  <a:srgbClr val="587184"/>
                </a:solidFill>
              </a:rPr>
              <a:t>Relacionar hardware, software, almacenamiento y red.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38BF1E-AD11-46B4-93BE-BAB9B66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336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A524"/>
                </a:solidFill>
              </a:defRPr>
            </a:pPr>
            <a:r>
              <a:rPr sz="2550" b="1">
                <a:solidFill>
                  <a:srgbClr val="F5A524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4E541-3C3E-481C-BEA8-C9DC750B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24150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5AC19A-9D5D-42C5-9B9C-81379B38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63A"/>
                </a:solidFill>
              </a:defRPr>
            </a:pPr>
            <a:r>
              <a:rPr sz="1800" b="1">
                <a:solidFill>
                  <a:srgbClr val="10263A"/>
                </a:solidFill>
              </a:rPr>
              <a:t>CONSTRUIR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AFB3B-0FBC-4507-8474-ED1C7945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86150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184"/>
                </a:solidFill>
              </a:defRPr>
            </a:pPr>
            <a:r>
              <a:rPr sz="1500" b="0">
                <a:solidFill>
                  <a:srgbClr val="587184"/>
                </a:solidFill>
              </a:rPr>
              <a:t>Instalar y configurar Windows, GNU/Linux y entornos virtuales.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557FAE-5A03-4018-936C-5F9E3431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A524"/>
                </a:solidFill>
              </a:defRPr>
            </a:pPr>
            <a:r>
              <a:rPr sz="2550" b="1">
                <a:solidFill>
                  <a:srgbClr val="F5A524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8B667-6A14-43D0-A33D-54697E18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F829E3-8476-434A-BB74-F63DC40D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527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63A"/>
                </a:solidFill>
              </a:defRPr>
            </a:pPr>
            <a:r>
              <a:rPr sz="1800" b="1">
                <a:solidFill>
                  <a:srgbClr val="10263A"/>
                </a:solidFill>
              </a:rPr>
              <a:t>DIAGNOSTICAR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AAFC6-5283-47C0-BA7D-6B16401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86150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184"/>
                </a:solidFill>
              </a:defRPr>
            </a:pPr>
            <a:r>
              <a:rPr sz="1500" b="0">
                <a:solidFill>
                  <a:srgbClr val="587184"/>
                </a:solidFill>
              </a:rPr>
              <a:t>Observar síntomas, probar hipótesis y documentar soluciones.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4CF91-587C-4AC2-A143-49C08FFF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1059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A84C6"/>
                </a:solidFill>
              </a:defRPr>
            </a:pPr>
            <a:r>
              <a:rPr sz="1950" b="1">
                <a:solidFill>
                  <a:srgbClr val="0A84C6"/>
                </a:solidFill>
              </a:rPr>
              <a:t>El objetivo final: trabajar con autonomía, seguridad y criterio técnico.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5E4841-24F2-41A3-9422-7494CE61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5F944E-7A5B-4EDE-B624-5A2C7FB0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56931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53EEA7-BA86-49E0-BE93-74DE174C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C38E0-A7E6-4440-9B9E-CF126313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Un módulo troncal para todo el ciclo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98144-0710-4C9E-844F-D020E08D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CCF3C-A101-439A-847C-F65290B8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2C7E8"/>
                </a:solidFill>
              </a:defRPr>
            </a:pPr>
            <a:r>
              <a:rPr sz="3900" b="1">
                <a:solidFill>
                  <a:srgbClr val="22C7E8"/>
                </a:solidFill>
              </a:rPr>
              <a:t>160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37DE19-0588-4256-A4DF-29F9C721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horas de formación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36FC3-7CFF-4C95-AF94-F2EF6DC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5A524"/>
                </a:solidFill>
              </a:defRPr>
            </a:pPr>
            <a:r>
              <a:rPr sz="3900" b="1">
                <a:solidFill>
                  <a:srgbClr val="F5A524"/>
                </a:solidFill>
              </a:rPr>
              <a:t>4 h 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B0A36-E9BD-49F8-9885-C39A2E57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minutos por semana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987D1-9B7D-4C94-BB90-729A18DF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2C7E8"/>
                </a:solidFill>
              </a:defRPr>
            </a:pPr>
            <a:r>
              <a:rPr sz="3900" b="1">
                <a:solidFill>
                  <a:srgbClr val="22C7E8"/>
                </a:solidFill>
              </a:rPr>
              <a:t>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DE405-0E89-4193-AA34-5CF42643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unidades didácticas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3D6D49-ED8B-4183-93E3-A2817F96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2C7E8"/>
                </a:solidFill>
              </a:defRPr>
            </a:pPr>
            <a:r>
              <a:rPr sz="3900" b="1">
                <a:solidFill>
                  <a:srgbClr val="22C7E8"/>
                </a:solidFill>
              </a:rPr>
              <a:t>1.º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8FEDE-DDCA-47EA-9E7F-0E2BF322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curso de DAW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1D425-C58D-443C-8C2D-E959031B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2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AA1EA-43E6-4F30-B6A6-9AF046E5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71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B9D7E4"/>
                </a:solidFill>
              </a:defRPr>
            </a:pPr>
            <a:r>
              <a:rPr sz="1800" b="0">
                <a:solidFill>
                  <a:srgbClr val="B9D7E4"/>
                </a:solidFill>
              </a:rPr>
              <a:t>La carga semanal permite combinar explicación breve, laboratorio guiado y práctica autónoma.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EC6B3-6A06-4B24-8216-DCA8403F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Sistemas Informáticos · 1.º DAW · 2026–2027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2F4C2A-9A8C-46F6-A0D8-C2433A82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9217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3E0F86-E8F9-4D02-A052-16E4F870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E95E0B-9F06-4291-A2D2-B8ADCD13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Tres días de clase y cinco sesiones de taller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F935F-6CA2-4DE2-BB09-5C92EC2B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Todas las sesiones se imparten en el aula C-1-2.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A8201-03FB-4371-82E8-40875595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23DED-1E8C-4D59-B0F8-F637B5A4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84C6"/>
                </a:solidFill>
              </a:defRPr>
            </a:pPr>
            <a:r>
              <a:rPr sz="1650" b="1">
                <a:solidFill>
                  <a:srgbClr val="0A84C6"/>
                </a:solidFill>
              </a:rPr>
              <a:t>LUNES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899A1-5D0B-47F5-BAD3-10123092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63A"/>
                </a:solidFill>
              </a:defRPr>
            </a:pPr>
            <a:r>
              <a:rPr sz="1725" b="1">
                <a:solidFill>
                  <a:srgbClr val="10263A"/>
                </a:solidFill>
              </a:rPr>
              <a:t>09:50–10:45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9444A-E76F-4B65-8D2C-A58EC23F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76475"/>
            <a:ext cx="33813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DC235A-EB2B-43FB-8CED-D49BBB7A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63A"/>
                </a:solidFill>
              </a:defRPr>
            </a:pPr>
            <a:r>
              <a:rPr sz="1725" b="1">
                <a:solidFill>
                  <a:srgbClr val="10263A"/>
                </a:solidFill>
              </a:rPr>
              <a:t>11:15–12:10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67B05-E808-4D7F-AE0E-85399B14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09550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587184"/>
                </a:solidFill>
              </a:defRPr>
            </a:pPr>
            <a:r>
              <a:rPr sz="1275" b="1">
                <a:solidFill>
                  <a:srgbClr val="587184"/>
                </a:solidFill>
              </a:rPr>
              <a:t>patio 10:45–11:15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723D6-EA7C-4AB3-8096-C5DAF6CE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6B37B"/>
                </a:solidFill>
              </a:defRPr>
            </a:pPr>
            <a:r>
              <a:rPr sz="1650" b="1">
                <a:solidFill>
                  <a:srgbClr val="46B37B"/>
                </a:solidFill>
              </a:rPr>
              <a:t>MARTES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7FDFB-2DC7-496A-8D62-CA2C3DEE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09:50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E4747-2779-44E4-8A90-67A5D16F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95675"/>
            <a:ext cx="33813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3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C1685-D9DF-4614-9FB4-C9DE875A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147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10:45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AB7E50-CA0E-4990-A7CA-CFE46293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1470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587184"/>
                </a:solidFill>
              </a:defRPr>
            </a:pPr>
            <a:r>
              <a:rPr sz="1275" b="1">
                <a:solidFill>
                  <a:srgbClr val="587184"/>
                </a:solidFill>
              </a:rPr>
              <a:t>55 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3FCEDD-48B3-4A87-8550-8F4A5F5F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A524"/>
                </a:solidFill>
              </a:defRPr>
            </a:pPr>
            <a:r>
              <a:rPr sz="1650" b="1">
                <a:solidFill>
                  <a:srgbClr val="F5A524"/>
                </a:solidFill>
              </a:rPr>
              <a:t>JUEVES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BAEB7-61F7-4EB1-9A4A-2605B254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339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08:00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D74DE-A1AC-4340-9D7A-24934515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14875"/>
            <a:ext cx="33813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78D18-FCB1-4D6D-BD71-BDE34483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339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09:50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1E167E-A170-4AC8-A9C5-5B5BF18B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53390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587184"/>
                </a:solidFill>
              </a:defRPr>
            </a:pPr>
            <a:r>
              <a:rPr sz="1275" b="1">
                <a:solidFill>
                  <a:srgbClr val="587184"/>
                </a:solidFill>
              </a:rPr>
              <a:t>1 h 50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FF724F-7FC2-42AF-BCE0-79C059AF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578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0A84C6"/>
                </a:solidFill>
              </a:defRPr>
            </a:pPr>
            <a:r>
              <a:rPr sz="1725" b="1">
                <a:solidFill>
                  <a:srgbClr val="0A84C6"/>
                </a:solidFill>
              </a:rPr>
              <a:t>275 min / semana · 4 h 35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A4922F-C56E-486F-9AC7-7865BFEB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422F09-0375-4C9D-BD6C-78FA837C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779952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5A6860-7B44-4C4A-A340-0D4B4648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23C4B-6830-43B5-A214-9E416273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El curso avanza desde el equipo hasta la red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EAC1E-D8C7-4134-8574-879B772F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Cada unidad añade una capa de autonomía técnica.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1A8E8-5C1C-4222-82D8-AE631C6B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D6926-2D5C-418F-8660-F595979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BC2A1-0F0B-4F82-A7BD-A3885D84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8238A-335B-4A0B-A80F-811C710A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A524"/>
                </a:solidFill>
              </a:defRPr>
            </a:pPr>
            <a:r>
              <a:rPr sz="1350" b="1">
                <a:solidFill>
                  <a:srgbClr val="F5A524"/>
                </a:solidFill>
              </a:rPr>
              <a:t>UD1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678CA-7AA5-40C2-902C-0F5DE462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Hardware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500A6-5B5B-47C7-824C-6FF25380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15 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C8E44-74B2-43B0-8A6F-05E810D8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7AA4C-92B8-4592-992E-5E6DCBA7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5FA003-A262-46BA-A132-757136B5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84C6"/>
                </a:solidFill>
              </a:defRPr>
            </a:pPr>
            <a:r>
              <a:rPr sz="1350" b="1">
                <a:solidFill>
                  <a:srgbClr val="0A84C6"/>
                </a:solidFill>
              </a:rPr>
              <a:t>UD2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CA2868-B92E-47C3-A56F-AC0E11DC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Fundamentos de 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1D233-C8B0-4AB5-8221-C4B8BEE5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15 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5DCD8-2FD1-493B-856E-E6AD3F6F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B2619-4B71-4454-8DD1-C3B9ED0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C1D400-6110-40B2-A274-44858F57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7E8"/>
                </a:solidFill>
              </a:defRPr>
            </a:pPr>
            <a:r>
              <a:rPr sz="1350" b="1">
                <a:solidFill>
                  <a:srgbClr val="22C7E8"/>
                </a:solidFill>
              </a:rPr>
              <a:t>UD3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1F3BE1-95CA-499D-96FF-25C43B2B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Instalación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D0418-2053-45C9-B496-29DB91F5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10 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96F713-47E0-4EB4-9938-95A48659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4907B-4EC4-49E6-84F3-D13B07DF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3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67E6FA-0C39-4E71-AE57-EC41E8A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6B37B"/>
                </a:solidFill>
              </a:defRPr>
            </a:pPr>
            <a:r>
              <a:rPr sz="1350" b="1">
                <a:solidFill>
                  <a:srgbClr val="46B37B"/>
                </a:solidFill>
              </a:rPr>
              <a:t>UD4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2D5839-A3E0-4133-B609-A8FC4D1B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Gestión de información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35DC8-CB7B-4526-8091-AB47FD33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20 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6EB8EF-6178-4819-9AE4-F4852D36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93761F-DD3F-4A05-A03E-758A3F16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E4E8E9-2623-4460-8748-0B110287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84C6"/>
                </a:solidFill>
              </a:defRPr>
            </a:pPr>
            <a:r>
              <a:rPr sz="1350" b="1">
                <a:solidFill>
                  <a:srgbClr val="0A84C6"/>
                </a:solidFill>
              </a:rPr>
              <a:t>UD5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8A7108-AAB4-439B-B4BE-68E04AF0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Administración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1B7358-F175-4ABC-8EB6-F69AE3BA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20 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0A81F0-30FA-4CC0-B2D9-CF168456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F5B406-A04F-4B66-807B-0453E606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6F4BDD-9800-4921-8796-FB2AB080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A524"/>
                </a:solidFill>
              </a:defRPr>
            </a:pPr>
            <a:r>
              <a:rPr sz="1350" b="1">
                <a:solidFill>
                  <a:srgbClr val="F5A524"/>
                </a:solidFill>
              </a:rPr>
              <a:t>UD6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9CBF58-0836-4210-9247-C463F126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Scripting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D29868-30EF-4EC6-83D8-EE316F4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30 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009763-56E3-472E-B609-FE6273EB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C78985-5C02-4530-836E-1F38F1B3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1A436C-4B6E-49A8-9B0D-AEDB6293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UD7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5A7A35-624B-487E-96F9-0551CD8F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Redes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3EF7A6-C6BC-4425-AB66-361D34A6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50 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69C20F-4689-49DE-91A1-FB1EE650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84C6"/>
                </a:solidFill>
              </a:defRPr>
            </a:pPr>
            <a:r>
              <a:rPr sz="1650" b="1">
                <a:solidFill>
                  <a:srgbClr val="0A84C6"/>
                </a:solidFill>
              </a:rPr>
              <a:t>40 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95AA03-CB6C-450F-B7DC-24E01A9E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686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6B37B"/>
                </a:solidFill>
              </a:defRPr>
            </a:pPr>
            <a:r>
              <a:rPr sz="1650" b="1">
                <a:solidFill>
                  <a:srgbClr val="46B37B"/>
                </a:solidFill>
              </a:rPr>
              <a:t>70 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20ADD9-5AB7-414B-8E52-3E457DDF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686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5A524"/>
                </a:solidFill>
              </a:defRPr>
            </a:pPr>
            <a:r>
              <a:rPr sz="1650" b="1">
                <a:solidFill>
                  <a:srgbClr val="F5A524"/>
                </a:solidFill>
              </a:rPr>
              <a:t>50 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088245-E25F-4B97-B700-9F80F075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1.er trimestre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923CBC-4775-410F-90DD-769A5E6C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0673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2.º trimestre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8AE17A-2781-40DD-A774-BA0BE27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067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3.er trimestre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44E44CC-E80F-49A6-9A6A-2E92091A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1946A1-F21D-48A9-A44D-13DA6F0B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403025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42A0C3-34DD-40C8-A97E-0476573E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50DF9C-1E22-4684-8D84-572AD7F5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Aprenderemos trabajando como un pequeño laboratorio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EF98E-6BC3-4024-9F70-3A74728A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La teoría abre el camino; la evidencia demuestra que el sistema funciona.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DCA9E-9776-4A52-B43B-92972214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AD18B-5901-49E9-8FEA-4CF91CE9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12B042-615C-4CAA-BF88-78286A2D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A8E59-436A-4537-A690-0202EA6E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5DE8C-9E4D-4527-A864-7F3CA642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EXPLICAR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4CA03-6D84-4E4A-B82F-262409CC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Concepto y demostración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BCFB4-B30C-47D5-A635-07D41211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B4987-6D82-40B2-AD10-B44C2EBF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9C591-334E-4D9A-9636-5C7398E2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7C695-B168-43DF-93ED-057C969D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CONFIGURAR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D0D14-C9CC-4D0C-BA92-7C4204BD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Práctica guiada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D4013-44E1-40CA-A36B-2CBB9CAA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9CF43-B453-46DD-ABBE-B118851A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70E8D-4C3E-4D92-BC57-FD5D90FD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E0A6CB-5FA8-4C44-B02A-8AB34C98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PROBAR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990F18-A354-4D37-ADA2-1E5A7C91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Reto e incidencias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E607E4-5B5C-4802-9CB3-3F7F0ACF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1A0D10-3FBD-4F36-A5CF-BFC21538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4C9FF-17C9-4A6D-99EF-10948715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71C4C-BE5E-476F-8B1E-FBA8CB9F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DOCUMENTAR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EEECD3-7633-42FE-9453-92625347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Pasos y evidencias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08CD89-2872-4CF6-A162-3AA2BE02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99616E-34E0-47E5-8861-53F94984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A0591B-1727-4192-9580-129A7141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MEJORAR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48AD4F-9AE0-47A7-BA22-5E4BD891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Conclusiones y refuerzo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92D97C-A6F1-4DA0-8A02-AF8D9F99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97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84C6"/>
                </a:solidFill>
              </a:defRPr>
            </a:pPr>
            <a:r>
              <a:rPr sz="2100" b="1">
                <a:solidFill>
                  <a:srgbClr val="0A84C6"/>
                </a:solidFill>
              </a:rPr>
              <a:t>Error → prueba → solución → conclusión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44F85C-7783-4AB2-B955-56510704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30A2D7-9312-4AFB-B9B8-4378BA9B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9418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3953C3-085E-4E99-984F-8E16B032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B4B09-E574-425E-9619-BAA6EC44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Trabajaremos con sistemas reales en entornos seguros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9614AD-56F7-4CC7-BD16-B2630EF6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8158abf744d18"/>
          <a:stretch xmlns:a="http://schemas.openxmlformats.org/drawingml/2006/main"/>
        </p:blipFill>
        <p:spPr>
          <a:xfrm xmlns:a="http://schemas.openxmlformats.org/drawingml/2006/main">
            <a:off x="609600" y="2127250"/>
            <a:ext cx="5048250" cy="3365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2027A-E596-4761-A3CB-834D2919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GNU/Linux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0736A-3ECB-4510-98F8-08D8546A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Ubuntu LTS y terminal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64B48-205C-4F4C-AB46-28E60EEB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241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30522-165F-44CC-916C-83091F5A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432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Microsoft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622CE-13DA-4A6C-AD04-3AEF8217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432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Windows 11 y Windows 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F59E9-D7A3-4608-8F49-4ABBA549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67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682CB1-1B03-40B6-8D03-1596C29C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61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Virtualización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A5A419-FDEC-400D-81AE-C3751C69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VirtualBox, instantáneas y redes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6C2EAE-EC1A-47B5-9DDF-24A72708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00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274FE-09DF-44C1-A1BF-D68239B2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Contenedores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6B6042-7EC6-4351-A4E7-8C38006D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291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Docker y Compose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448DDB-0165-4BF5-9485-A2425824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85377-AAE8-4B0C-83E4-9ACA70F8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A524"/>
                </a:solidFill>
              </a:defRPr>
            </a:pPr>
            <a:r>
              <a:rPr sz="1425" b="1">
                <a:solidFill>
                  <a:srgbClr val="F5A524"/>
                </a:solidFill>
              </a:rPr>
              <a:t>Nube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606975-DBA7-41C2-AD27-449AA5EA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72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Azure y/o AWS según la unidad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B5BBDF-2514-4196-8E62-A2713DDE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959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C5D419-261F-4CC5-9CD9-3D67368F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Sistemas Informáticos · 1.º DAW · 2026–2027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B8CCB4-DA6F-4097-9A89-222D1DE9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584098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259E58-1B23-4864-AE8B-D83EC1F8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A0288-D17B-41E9-9C68-F2E9E66F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La evaluación combina dominio técnico y trabajo continuado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012F2-3BBD-4110-AED0-B0B7F74B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Los dos bloques deben demostrar que sabes hacer y explicar lo que haces.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DB26B-7755-4676-B1CE-92327A5D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5D033-98AE-4A58-BFDA-F31AF71A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0A84C6"/>
                </a:solidFill>
              </a:defRPr>
            </a:pPr>
            <a:r>
              <a:rPr sz="5250" b="1">
                <a:solidFill>
                  <a:srgbClr val="0A84C6"/>
                </a:solidFill>
              </a:rPr>
              <a:t>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D10AC4-BB95-47B7-B772-52BABFD2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66950"/>
            <a:ext cx="66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A84C6"/>
                </a:solidFill>
              </a:defRPr>
            </a:pPr>
            <a:r>
              <a:rPr sz="2850" b="1">
                <a:solidFill>
                  <a:srgbClr val="0A84C6"/>
                </a:solidFill>
              </a:rPr>
              <a:t>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84965-7522-4B19-B281-448ACE43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F5A524"/>
                </a:solidFill>
              </a:defRPr>
            </a:pPr>
            <a:r>
              <a:rPr sz="5250" b="1">
                <a:solidFill>
                  <a:srgbClr val="F5A524"/>
                </a:solidFill>
              </a:rPr>
              <a:t>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D45D6-65B7-410E-A22B-7D49C231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57625"/>
            <a:ext cx="66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5A524"/>
                </a:solidFill>
              </a:defRPr>
            </a:pPr>
            <a:r>
              <a:rPr sz="2850" b="1">
                <a:solidFill>
                  <a:srgbClr val="F5A524"/>
                </a:solidFill>
              </a:rPr>
              <a:t>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F38B8-B10D-4A25-9C42-1F59231A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81250"/>
            <a:ext cx="480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8C79D6-6BB9-4A1B-BD20-5D32E687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8125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00366-C4CF-481A-AE53-FE8F521E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Pruebas escritas y prácticas de evaluación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E052A-ACC1-43BC-874F-33CDC74F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7625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E62021-B8E3-4508-A779-EE991E30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720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Prácticas y tareas de aula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12C94A-89F7-49F2-AA77-62AC4962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286375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45C5C"/>
                </a:solidFill>
              </a:defRPr>
            </a:pPr>
            <a:r>
              <a:rPr sz="1650" b="1">
                <a:solidFill>
                  <a:srgbClr val="E45C5C"/>
                </a:solidFill>
              </a:rPr>
              <a:t>La entrega de prácticas es obligatoria.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02D0B3-CC3F-4BAF-B7CD-E076F620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168CB7-B4FD-4BBD-B834-F0B70B5F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9454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CB4A3C-7EDB-41B9-8197-305F7678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9AB32-C71C-42FF-B71B-0674B039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Aprobar exige equilibrio, constancia y evidencias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46026-32CC-4BC9-8720-A0C1FD71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Tres condiciones sencillas que conviene tener presentes desde el primer día.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9AF91D-B234-4E9D-BE0F-83E1A246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55AB90-FA28-405D-9D25-CC908334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A84C6"/>
                </a:solidFill>
              </a:defRPr>
            </a:pPr>
            <a:r>
              <a:rPr sz="3900" b="1">
                <a:solidFill>
                  <a:srgbClr val="0A84C6"/>
                </a:solidFill>
              </a:rPr>
              <a:t>≥ 4,0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B8830-D175-4D24-A8EF-5165480F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57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9EAE9-74EF-496E-AE6C-AB59E0F1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en cada bloque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70F6A-43AC-4E40-84A8-7BC7501E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957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Sin ese mínimo no se calcula la media.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AFDF3-02DB-4AA5-BA88-B65C13CC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33625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A84C6"/>
                </a:solidFill>
              </a:defRPr>
            </a:pPr>
            <a:r>
              <a:rPr sz="3900" b="1">
                <a:solidFill>
                  <a:srgbClr val="0A84C6"/>
                </a:solidFill>
              </a:rPr>
              <a:t>≥ 5,0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973A0-0DF6-4638-8E76-1D33A1C5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57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FBAD15-61B3-4A7B-8C3C-9F4C57F5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24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como nota final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CC993-F15D-45BF-917A-A42BD88B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957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Después de aplicar la ponderación 70/30.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9492E-DEA8-4702-8565-888BCBAE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5A524"/>
                </a:solidFill>
              </a:defRPr>
            </a:pPr>
            <a:r>
              <a:rPr sz="3900" b="1">
                <a:solidFill>
                  <a:srgbClr val="F5A524"/>
                </a:solidFill>
              </a:rPr>
              <a:t>100 %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16910-0A8A-4588-8C67-60C1939B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257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AD6CE-982E-4B9C-92F1-99EF7606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de prácticas entregadas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A7592-5816-43D4-8B23-CFF124C2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957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Dentro de plazo y con evidencias suficientes.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282AA1-7087-4D79-B973-D020AAD8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86375"/>
            <a:ext cx="1047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9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F0FD7D-3F1D-42A0-9DE8-916C26DD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6257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63A"/>
                </a:solidFill>
              </a:defRPr>
            </a:pPr>
            <a:r>
              <a:rPr sz="1425" b="1">
                <a:solidFill>
                  <a:srgbClr val="10263A"/>
                </a:solidFill>
              </a:rPr>
              <a:t>Las recuperaciones ordinaria y extraordinaria mantienen los requisitos establecidos.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E311C1-1029-4E19-9F49-B6E5ED3B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5FB3CF-CC10-4B2C-B807-80F103E4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026001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787210-8F85-45A2-AA0D-4FD217EC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578A1-6D76-488E-94B8-DBF68546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La profesionalidad también se aprende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E4967-A310-490C-AA31-97CBFCFD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D7E4"/>
                </a:solidFill>
              </a:defRPr>
            </a:pPr>
            <a:r>
              <a:rPr sz="1350" b="0">
                <a:solidFill>
                  <a:srgbClr val="B9D7E4"/>
                </a:solidFill>
              </a:rPr>
              <a:t>Seguridad, autoría y comunicación forman parte del trabajo técnico.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9A9C7-4D5E-43BC-863B-21089113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4E7E7-6AAE-46B7-85B9-A07BABC7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FF579-8C60-4A03-989F-5E0EC6A7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43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COPIAS Y SNAPSHOTS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F803B-8A3B-479D-87BD-BA1A04BE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Protege el sistema antes de cambios críticos.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63D84D-B975-4C03-9EA5-82552801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955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86226-A7C7-4BC9-8BA7-850A2C56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194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928136-1A00-4CBB-A8DA-CC0C7BA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194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DATOS FICTICIOS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5FA5CE-C6E5-4663-B709-C98DFD90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0194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 uses información personal real en prácticas.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7D3831-16B4-40AC-BF5C-6529BF14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5718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59A956-8714-4751-9CCC-AA1D3018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957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B561A5-1B18-46A0-AADE-8DF379A8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8957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CERO PLAGIO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00738B-617A-42A4-AF8D-079C3F1D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8957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Consultar es válido; copiar sin comprender, no.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6312F-0AA4-4642-B711-6922506B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4481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94058C-81DD-47AA-8E9D-61D5683A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720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96D10-AE4B-4F2B-A6F2-6D56D6D7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IA RESPONSABLE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B74551-61FC-4D10-90DD-F5D8129F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7720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Declara su uso y verifica siempre el resultado.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DC78CD-5021-433F-A7F9-093497AD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24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BE5E86-10AD-4A0E-9651-10664B37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Sistemas Informáticos · 1.º DAW · 2026–2027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F87FD-DA4A-47BB-B365-3D52931B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770910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6C36FD-9267-471F-8F03-A77DE120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48E64-4A2F-4187-A8BC-304C3A51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La primera semana termina con un sistema reproducible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E2DE6-6078-4D71-9615-DBC359FE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Primer reto: crear, verificar y documentar una máquina virtual Linux.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13F92-2E98-4D29-988E-50045949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AD125-0598-487A-8EA0-91EE80CF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3619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508FB-EB21-40C9-B767-838D9270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2B3F9-5A1D-41F0-A2CA-5ADBECAD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717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63A"/>
                </a:solidFill>
              </a:defRPr>
            </a:pPr>
            <a:r>
              <a:rPr sz="1500" b="0">
                <a:solidFill>
                  <a:srgbClr val="10263A"/>
                </a:solidFill>
              </a:rPr>
              <a:t>Crear una VM Ubuntu LTS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B728B-909B-412B-BF77-8DA7E48D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3619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2B655-E484-418C-B70A-607BF1A3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4AD48-A8E0-4367-8ABB-F4E70AD9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575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63A"/>
                </a:solidFill>
              </a:defRPr>
            </a:pPr>
            <a:r>
              <a:rPr sz="1500" b="0">
                <a:solidFill>
                  <a:srgbClr val="10263A"/>
                </a:solidFill>
              </a:rPr>
              <a:t>Asignar 2 CPU, 4 GB RAM y 25 GB dinámicos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F5220B-7D22-465B-9424-E78B1BDC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3619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243CE5-0894-4830-A02E-12914385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6A540-9B19-4918-B774-A41A72EE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5433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63A"/>
                </a:solidFill>
              </a:defRPr>
            </a:pPr>
            <a:r>
              <a:rPr sz="1500" b="0">
                <a:solidFill>
                  <a:srgbClr val="10263A"/>
                </a:solidFill>
              </a:rPr>
              <a:t>Instalar y actualizar el sistema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12C74B-4AB0-4F7A-A899-063F49FF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3619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C702AA-0302-4BD6-9F0A-FE6E121F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092CD-6157-4CE6-924B-1CDDB6D6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2291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63A"/>
                </a:solidFill>
              </a:defRPr>
            </a:pPr>
            <a:r>
              <a:rPr sz="1500" b="0">
                <a:solidFill>
                  <a:srgbClr val="10263A"/>
                </a:solidFill>
              </a:rPr>
              <a:t>Crear la instantánea “Base limpia”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65C-349C-4D93-A424-3F02E0F8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3619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1B39A3-7DC6-49B6-A177-C74AD556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11C738-0F6E-4AC5-BC11-5F0D8609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149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63A"/>
                </a:solidFill>
              </a:defRPr>
            </a:pPr>
            <a:r>
              <a:rPr sz="1500" b="1">
                <a:solidFill>
                  <a:srgbClr val="10263A"/>
                </a:solidFill>
              </a:rPr>
              <a:t>Comprobar red y documentar el proceso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9BC2C6-582D-4511-902B-41A35779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7531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84C6"/>
                </a:solidFill>
              </a:defRPr>
            </a:pPr>
            <a:r>
              <a:rPr sz="1500" b="1">
                <a:solidFill>
                  <a:srgbClr val="0A84C6"/>
                </a:solidFill>
              </a:rPr>
              <a:t>Objetivo: que otra persona pueda repetir tu trabajo siguiendo tus evidencias.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C0672-C6ED-4ED2-AB34-24E1474D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Sistemas Informáticos · 1.º DAW · 2026–2027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FEC64B-8030-4915-9158-8C26B0C3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40552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1ECEB-73AC-4144-B505-C2852385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52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F556D-91B6-4BB9-A04E-7C4C93B1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Empezamos construyendo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nuestro laboratorio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77407-8D4D-478A-9659-C53C468D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7524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B9D7E4"/>
                </a:solidFill>
              </a:defRPr>
            </a:pPr>
            <a:r>
              <a:rPr sz="1725" b="0">
                <a:solidFill>
                  <a:srgbClr val="B9D7E4"/>
                </a:solidFill>
              </a:rPr>
              <a:t>Consulta la teoría, prepara tus dudas y documenta cada avance.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A1B15-4C8B-4348-B56E-21F6C43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TEORÍA Y MATERIALES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A9DDB-8ED9-4535-85F4-ED74AA79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davidmolinafernadez.github.io/DAM-SI/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8EF8B-D787-4DC1-B9D4-15AB23DA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561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9368C-3851-4231-A7F0-EEC0DB6A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D7E4"/>
                </a:solidFill>
              </a:defRPr>
            </a:pPr>
            <a:r>
              <a:rPr sz="1350" b="0">
                <a:solidFill>
                  <a:srgbClr val="B9D7E4"/>
                </a:solidFill>
              </a:rPr>
              <a:t>Aula virtual · Correo oficial del centro · Repositorio docente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006DB8-2C90-4869-A0E4-AEBEAA9A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000125"/>
            <a:ext cx="2333625" cy="2333625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62722-5D37-46C0-9905-464007E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000125"/>
            <a:ext cx="23336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FFFFFF"/>
                </a:solidFill>
              </a:defRPr>
            </a:pPr>
            <a:r>
              <a:rPr sz="6150" b="1">
                <a:solidFill>
                  <a:srgbClr val="FFFFFF"/>
                </a:solidFill>
              </a:rPr>
              <a:t>SI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38CD2-F104-4A44-88A2-6B8C7C31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718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A524"/>
                </a:solidFill>
              </a:defRPr>
            </a:pPr>
            <a:r>
              <a:rPr sz="1350" b="1">
                <a:solidFill>
                  <a:srgbClr val="F5A524"/>
                </a:solidFill>
              </a:rPr>
              <a:t>2026–2027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54AC6-EF81-4861-91B6-74FA4969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Sistemas Informáticos · 1.º DAW · 2026–2027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34AEC-AEAD-4392-8B3E-E389FDD7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485089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2026-08-24T07:32:45.4800000Z</dcterms:created>
  <dcterms:modified xsi:type="dcterms:W3CDTF">2026-08-24T07:32:45.4810000Z</dcterms:modified>
</coreProperties>
</file>