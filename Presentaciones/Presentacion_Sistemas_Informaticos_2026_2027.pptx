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Imagen de portada generada para esta presentación con OpenAI ImageGen (2026).</a:t>
            </a:r>
          </a:p>
          <a:p>
            <a:r>
              <a:t>- Sistemes Informàtics 25-26_Presentacio.pdf (material docente de referencia aportado por el usuario).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Guia_didactica_25_26.pdf, apartados 1–3 (competencias y resultados de aprendizaje).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Guia_didactica_25_26.pdf, temporalización: 160 h.</a:t>
            </a:r>
          </a:p>
          <a:p>
            <a:r>
              <a:t>- HORARIS 26-27 - 0720_MOLINA,DAVID.pdf: SI de 1.º DAM, 5 sesiones de 55 min = 275 min = 4 h 35 min semanales.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HORARIS 26-27 - 0720_MOLINA,DAVID.pdf: horario oficial de SI, grupo CS.DAM-1, aula C-1-2.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Guia_didactica_25_26.pdf, apartados 3 y 4 (unidades y temporalización).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Guia_didactica_25_26.pdf, apartado 5 (material y metodología).</a:t>
            </a:r>
          </a:p>
          <a:p>
            <a:r>
              <a:t>- Sistemes Informàtics 25-26_Presentacio.pdf, diapositivas 14 y 20 (documentación y evidencias).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Guia_didactica_25_26.pdf, apartado 5.1 (software previsto).</a:t>
            </a:r>
          </a:p>
          <a:p>
            <a:r>
              <a:t>- Ilustración propia de placa base creada para los materiales de UD1 con OpenAI ImageGen (2026).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Sistemes Informàtics 25-26_Presentacio.pdf, diapositiva 9 (ponderación 70/30).</a:t>
            </a:r>
          </a:p>
          <a:p>
            <a:r>
              <a:t>- Guia_didactica_25_26.pdf, apartado 6 (evaluación y obligatoriedad de prácticas).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Sistemes Informàtics 25-26_Presentacio.pdf, diapositiva 9 (mínimos y requisitos).</a:t>
            </a:r>
          </a:p>
          <a:p>
            <a:r>
              <a:t>- Guia_didactica_25_26.pdf, apartado 6 (evaluación ordinaria y extraordinaria).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Sistemes Informàtics 25-26_Presentacio.pdf, diapositiva 16 (normas de aula, RGPD, plagio y uso de IA).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Sistemes Informàtics 25-26_Presentacio.pdf, diapositiva 19 (actividad de la primera semana).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Web docente del módulo: https://davidmolinafernadez.github.io/DAM-SI/</a:t>
            </a:r>
          </a:p>
          <a:p>
            <a:r>
              <a:t>- Sistemes Informàtics 25-26_Presentacio.pdf, diapositiva 21 (canales de contacto).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2B36EA8-CD59-44EB-82C8-84D0E89FD9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572250" cy="6858000"/>
          </a:xfrm>
          <a:prstGeom prst="rect">
            <a:avLst/>
          </a:prstGeom>
          <a:solidFill>
            <a:srgbClr val="071A2B">
              <a:alpha val="90980"/>
            </a:srgbClr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47957E7-3134-4D0A-B2FD-CB19C4367316}"/>
              </a:ext>
            </a:extLst>
          </p:cNvPr>
          <p:cNvSpPr>
            <a:spLocks noGrp="1"/>
          </p:cNvSpPr>
          <p:nvPr/>
        </p:nvSpPr>
        <p:spPr>
          <a:xfrm>
            <a:off x="628650" y="876300"/>
            <a:ext cx="838200" cy="57150"/>
          </a:xfrm>
          <a:prstGeom prst="rect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9CA0BD-E935-4192-B286-35100F064BF0}"/>
              </a:ext>
            </a:extLst>
          </p:cNvPr>
          <p:cNvSpPr>
            <a:spLocks noGrp="1"/>
          </p:cNvSpPr>
          <p:nvPr/>
        </p:nvSpPr>
        <p:spPr>
          <a:xfrm>
            <a:off x="628650" y="1143000"/>
            <a:ext cx="5524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SISTEMAS</a:t>
            </a:r>
          </a:p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INFORMÁTICOS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9BE5C6-6172-489B-B9AA-34B3C15B925E}"/>
              </a:ext>
            </a:extLst>
          </p:cNvPr>
          <p:cNvSpPr>
            <a:spLocks noGrp="1"/>
          </p:cNvSpPr>
          <p:nvPr/>
        </p:nvSpPr>
        <p:spPr>
          <a:xfrm>
            <a:off x="666750" y="3095625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22C7E8"/>
                </a:solidFill>
              </a:defRPr>
            </a:pPr>
            <a:r>
              <a:rPr sz="1950" b="1">
                <a:solidFill>
                  <a:srgbClr val="22C7E8"/>
                </a:solidFill>
              </a:rPr>
              <a:t>Entender. Construir. Diagnosticar.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CC87F70-3010-4F70-AC9E-18AB8D3B220B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1.º DAM · Curso 2026–2027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E9DFE0B-39A1-4DB4-BD35-5AB9F848D21D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B9D7E4"/>
                </a:solidFill>
              </a:defRPr>
            </a:pPr>
            <a:r>
              <a:rPr sz="1350" b="0">
                <a:solidFill>
                  <a:srgbClr val="B9D7E4"/>
                </a:solidFill>
              </a:rPr>
              <a:t>Hardware · Sistemas operativos · Virtualización · Redes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CCD6A63-BC52-4995-A57B-8651389EB094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B9D7E4"/>
                </a:solidFill>
              </a:defRPr>
            </a:pPr>
            <a:r>
              <a:rPr sz="1050" b="1">
                <a:solidFill>
                  <a:srgbClr val="B9D7E4"/>
                </a:solidFill>
              </a:rPr>
              <a:t>Presentación del módulo</a:t>
            </a:r>
          </a:p>
        </p:txBody>
      </p:sp>
    </p:spTree>
    <p:extLst>
      <p:ext uri="{BB962C8B-B14F-4D97-AF65-F5344CB8AC3E}">
        <p14:creationId xmlns:p14="http://schemas.microsoft.com/office/powerpoint/2010/main" val="902921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4E2381E2-2598-4657-AEA2-55A70CF41E7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01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C9401F6-06D0-425D-82C9-91510D6C0CA1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Aquí aprenderás a hacer que un sistema funcione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6B37101-5941-40F9-8F83-A91C80BB92CB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57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No solo conocerás componentes: tomarás decisiones, montarás entornos y resolverás incidencias.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B2D8E60-D17D-4644-8197-9AABD3FFCB0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28575"/>
          </a:xfrm>
          <a:prstGeom prst="rect">
            <a:avLst/>
          </a:prstGeom>
          <a:solidFill>
            <a:srgbClr val="22C7E8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6379D0-9DF4-4CAA-94F4-3A26927EF2F4}"/>
              </a:ext>
            </a:extLst>
          </p:cNvPr>
          <p:cNvSpPr>
            <a:spLocks noGrp="1"/>
          </p:cNvSpPr>
          <p:nvPr/>
        </p:nvSpPr>
        <p:spPr>
          <a:xfrm>
            <a:off x="800100" y="2133600"/>
            <a:ext cx="76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83BABFB-91D6-4A48-9E82-22BB105A8653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3048000" cy="28575"/>
          </a:xfrm>
          <a:prstGeom prst="rect">
            <a:avLst/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DF0E45-3283-44DC-976D-1AFB23B96830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COMPRENDER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BBF4F49-1583-484F-812F-C1200926BC8D}"/>
              </a:ext>
            </a:extLst>
          </p:cNvPr>
          <p:cNvSpPr>
            <a:spLocks noGrp="1"/>
          </p:cNvSpPr>
          <p:nvPr/>
        </p:nvSpPr>
        <p:spPr>
          <a:xfrm>
            <a:off x="800100" y="3486150"/>
            <a:ext cx="2952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Relacionar hardware, software, almacenamiento y red.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338BF1E-AD11-46B4-93BE-BAB9B66F0513}"/>
              </a:ext>
            </a:extLst>
          </p:cNvPr>
          <p:cNvSpPr>
            <a:spLocks noGrp="1"/>
          </p:cNvSpPr>
          <p:nvPr/>
        </p:nvSpPr>
        <p:spPr>
          <a:xfrm>
            <a:off x="4533900" y="2133600"/>
            <a:ext cx="76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7F4E541-3C3E-481C-BEA8-C9DC750BD385}"/>
              </a:ext>
            </a:extLst>
          </p:cNvPr>
          <p:cNvSpPr>
            <a:spLocks noGrp="1"/>
          </p:cNvSpPr>
          <p:nvPr/>
        </p:nvSpPr>
        <p:spPr>
          <a:xfrm>
            <a:off x="4533900" y="2724150"/>
            <a:ext cx="3048000" cy="28575"/>
          </a:xfrm>
          <a:prstGeom prst="rect">
            <a:avLst/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35AC19A-9D5D-42C5-9B9C-81379B38E51A}"/>
              </a:ext>
            </a:extLst>
          </p:cNvPr>
          <p:cNvSpPr>
            <a:spLocks noGrp="1"/>
          </p:cNvSpPr>
          <p:nvPr/>
        </p:nvSpPr>
        <p:spPr>
          <a:xfrm>
            <a:off x="4533900" y="295275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CONSTRUIR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38AFB3B-0FBC-4507-8474-ED1C7945890A}"/>
              </a:ext>
            </a:extLst>
          </p:cNvPr>
          <p:cNvSpPr>
            <a:spLocks noGrp="1"/>
          </p:cNvSpPr>
          <p:nvPr/>
        </p:nvSpPr>
        <p:spPr>
          <a:xfrm>
            <a:off x="4533900" y="3486150"/>
            <a:ext cx="2952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Instalar y configurar Windows, GNU/Linux y entornos virtuales.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3557FAE-5A03-4018-936C-5F9E343104D9}"/>
              </a:ext>
            </a:extLst>
          </p:cNvPr>
          <p:cNvSpPr>
            <a:spLocks noGrp="1"/>
          </p:cNvSpPr>
          <p:nvPr/>
        </p:nvSpPr>
        <p:spPr>
          <a:xfrm>
            <a:off x="8267700" y="2133600"/>
            <a:ext cx="76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D8B667-6A14-43D0-A33D-54697E182B60}"/>
              </a:ext>
            </a:extLst>
          </p:cNvPr>
          <p:cNvSpPr>
            <a:spLocks noGrp="1"/>
          </p:cNvSpPr>
          <p:nvPr/>
        </p:nvSpPr>
        <p:spPr>
          <a:xfrm>
            <a:off x="8267700" y="2724150"/>
            <a:ext cx="3048000" cy="28575"/>
          </a:xfrm>
          <a:prstGeom prst="rect">
            <a:avLst/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3F829E3-8476-434A-BB74-F63DC40D8BE9}"/>
              </a:ext>
            </a:extLst>
          </p:cNvPr>
          <p:cNvSpPr>
            <a:spLocks noGrp="1"/>
          </p:cNvSpPr>
          <p:nvPr/>
        </p:nvSpPr>
        <p:spPr>
          <a:xfrm>
            <a:off x="8267700" y="295275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DIAGNOSTICAR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48AAFC6-5283-47C0-BA7D-6B16401653A6}"/>
              </a:ext>
            </a:extLst>
          </p:cNvPr>
          <p:cNvSpPr>
            <a:spLocks noGrp="1"/>
          </p:cNvSpPr>
          <p:nvPr/>
        </p:nvSpPr>
        <p:spPr>
          <a:xfrm>
            <a:off x="8267700" y="3486150"/>
            <a:ext cx="2952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Observar síntomas, probar hipótesis y documentar soluciones.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144CF91-587C-4AC2-A143-49C08FFF7F29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9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0A84C6"/>
                </a:solidFill>
              </a:defRPr>
            </a:pPr>
            <a:r>
              <a:rPr sz="1950" b="1">
                <a:solidFill>
                  <a:srgbClr val="0A84C6"/>
                </a:solidFill>
              </a:rPr>
              <a:t>El objetivo final: trabajar con autonomía, seguridad y criterio técnico.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A5E4841-24F2-41A3-9422-7494CE6150F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Sistemas Informáticos · 1.º DAM · 2026–2027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C5F944E-7A5B-4EDE-B624-5A2C7FB02C9A}"/>
              </a:ext>
            </a:extLst>
          </p:cNvPr>
          <p:cNvSpPr>
            <a:spLocks noGrp="1"/>
          </p:cNvSpPr>
          <p:nvPr/>
        </p:nvSpPr>
        <p:spPr>
          <a:xfrm>
            <a:off x="10896600" y="647700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6931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0353EEA7-BA86-49E0-BE93-74DE174C0D4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ECC38E0-A7E6-4440-9B9E-CF126313215A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Un módulo troncal para todo el ciclo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3C98144-0710-4C9E-844F-D020E08D948D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10972800" cy="28575"/>
          </a:xfrm>
          <a:prstGeom prst="rect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BCCF3C-A101-439A-847C-F65290B8167B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2428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160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137DE19-0588-4256-A4DF-29F9C72178A9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2428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horas de formación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D536FC3-7CFF-4C95-AF94-F2EF6DC04EBB}"/>
              </a:ext>
            </a:extLst>
          </p:cNvPr>
          <p:cNvSpPr>
            <a:spLocks noGrp="1"/>
          </p:cNvSpPr>
          <p:nvPr/>
        </p:nvSpPr>
        <p:spPr>
          <a:xfrm>
            <a:off x="3524250" y="2333625"/>
            <a:ext cx="2428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900" b="1">
                <a:solidFill>
                  <a:srgbClr val="F5A524"/>
                </a:solidFill>
              </a:defRPr>
            </a:pPr>
            <a:r>
              <a:rPr sz="3900" b="1">
                <a:solidFill>
                  <a:srgbClr val="F5A524"/>
                </a:solidFill>
              </a:rPr>
              <a:t>4 h 35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E9B0A36-E9BD-49F8-9885-C39A2E57046C}"/>
              </a:ext>
            </a:extLst>
          </p:cNvPr>
          <p:cNvSpPr>
            <a:spLocks noGrp="1"/>
          </p:cNvSpPr>
          <p:nvPr/>
        </p:nvSpPr>
        <p:spPr>
          <a:xfrm>
            <a:off x="3524250" y="3333750"/>
            <a:ext cx="2428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minutos por semana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88987D1-9B7D-4C94-BB90-729A18DFC679}"/>
              </a:ext>
            </a:extLst>
          </p:cNvPr>
          <p:cNvSpPr>
            <a:spLocks noGrp="1"/>
          </p:cNvSpPr>
          <p:nvPr/>
        </p:nvSpPr>
        <p:spPr>
          <a:xfrm>
            <a:off x="6381750" y="2333625"/>
            <a:ext cx="2428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7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8DE405-0E89-4193-AA34-5CF42643C58B}"/>
              </a:ext>
            </a:extLst>
          </p:cNvPr>
          <p:cNvSpPr>
            <a:spLocks noGrp="1"/>
          </p:cNvSpPr>
          <p:nvPr/>
        </p:nvSpPr>
        <p:spPr>
          <a:xfrm>
            <a:off x="6381750" y="3333750"/>
            <a:ext cx="2428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unidades didácticas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A3D6D49-ED8B-4183-93E3-A2817F965D43}"/>
              </a:ext>
            </a:extLst>
          </p:cNvPr>
          <p:cNvSpPr>
            <a:spLocks noGrp="1"/>
          </p:cNvSpPr>
          <p:nvPr/>
        </p:nvSpPr>
        <p:spPr>
          <a:xfrm>
            <a:off x="9239250" y="2333625"/>
            <a:ext cx="2428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1.º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2D8FEDE-DDCA-47EA-9E7F-0E2BF322211C}"/>
              </a:ext>
            </a:extLst>
          </p:cNvPr>
          <p:cNvSpPr>
            <a:spLocks noGrp="1"/>
          </p:cNvSpPr>
          <p:nvPr/>
        </p:nvSpPr>
        <p:spPr>
          <a:xfrm>
            <a:off x="9239250" y="3333750"/>
            <a:ext cx="2428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 dirty="0" err="1">
                <a:solidFill>
                  <a:srgbClr val="FFFFFF"/>
                </a:solidFill>
              </a:rPr>
              <a:t>curso</a:t>
            </a:r>
            <a:r>
              <a:rPr sz="1425" b="0" dirty="0">
                <a:solidFill>
                  <a:srgbClr val="FFFFFF"/>
                </a:solidFill>
              </a:rPr>
              <a:t> de DA</a:t>
            </a:r>
            <a:r>
              <a:rPr lang="es-ES" sz="1425" b="0" dirty="0">
                <a:solidFill>
                  <a:srgbClr val="FFFFFF"/>
                </a:solidFill>
              </a:rPr>
              <a:t>M</a:t>
            </a:r>
            <a:endParaRPr sz="1425" b="0" dirty="0">
              <a:solidFill>
                <a:srgbClr val="FFFFFF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F91D425-C58D-443C-8C2D-E959031B0D00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10858500" cy="19050"/>
          </a:xfrm>
          <a:prstGeom prst="rect">
            <a:avLst/>
          </a:prstGeom>
          <a:solidFill>
            <a:srgbClr val="2E5268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63AA1EA-43E6-4F30-B6A6-9AF046E57D59}"/>
              </a:ext>
            </a:extLst>
          </p:cNvPr>
          <p:cNvSpPr>
            <a:spLocks noGrp="1"/>
          </p:cNvSpPr>
          <p:nvPr/>
        </p:nvSpPr>
        <p:spPr>
          <a:xfrm>
            <a:off x="1238250" y="4762500"/>
            <a:ext cx="971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0">
                <a:solidFill>
                  <a:srgbClr val="B9D7E4"/>
                </a:solidFill>
              </a:defRPr>
            </a:pPr>
            <a:r>
              <a:rPr sz="1800" b="0">
                <a:solidFill>
                  <a:srgbClr val="B9D7E4"/>
                </a:solidFill>
              </a:rPr>
              <a:t>La carga semanal permite combinar explicación breve, laboratorio guiado y práctica autónoma.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F3EC6B3-6A06-4B24-8216-DCA8403FB05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Sistemas Informáticos · 1.º DAM · 2026–2027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72F4C2A-9A8C-46F6-A0D8-C2433A82933D}"/>
              </a:ext>
            </a:extLst>
          </p:cNvPr>
          <p:cNvSpPr>
            <a:spLocks noGrp="1"/>
          </p:cNvSpPr>
          <p:nvPr/>
        </p:nvSpPr>
        <p:spPr>
          <a:xfrm>
            <a:off x="10896600" y="647700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9217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723E0F86-E8F9-4D02-A052-16E4F870C4C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03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DE95E0B-9F06-4291-A2D2-B8ADCD13A16C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Tres días de clase y cinco sesiones de taller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2AF935F-6CA2-4DE2-BB09-5C92EC2BBC58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57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Todas las sesiones se imparten en el aula C-1-2.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C9A8201-03FB-4371-82E8-40875595690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28575"/>
          </a:xfrm>
          <a:prstGeom prst="rect">
            <a:avLst/>
          </a:prstGeom>
          <a:solidFill>
            <a:srgbClr val="22C7E8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3323DED-1E8C-4D59-B0F8-F637B5A4BEC9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A84C6"/>
                </a:solidFill>
              </a:defRPr>
            </a:pPr>
            <a:r>
              <a:rPr sz="1650" b="1">
                <a:solidFill>
                  <a:srgbClr val="0A84C6"/>
                </a:solidFill>
              </a:rPr>
              <a:t>LUNES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0899A1-5D0B-47F5-BAD3-10123092E263}"/>
              </a:ext>
            </a:extLst>
          </p:cNvPr>
          <p:cNvSpPr>
            <a:spLocks noGrp="1"/>
          </p:cNvSpPr>
          <p:nvPr/>
        </p:nvSpPr>
        <p:spPr>
          <a:xfrm>
            <a:off x="2381250" y="20955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0263A"/>
                </a:solidFill>
              </a:defRPr>
            </a:pPr>
            <a:r>
              <a:rPr sz="1725" b="1">
                <a:solidFill>
                  <a:srgbClr val="10263A"/>
                </a:solidFill>
              </a:rPr>
              <a:t>09:50–10:45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79444A-E76F-4B65-8D2C-A58EC23FA81D}"/>
              </a:ext>
            </a:extLst>
          </p:cNvPr>
          <p:cNvSpPr>
            <a:spLocks noGrp="1"/>
          </p:cNvSpPr>
          <p:nvPr/>
        </p:nvSpPr>
        <p:spPr>
          <a:xfrm>
            <a:off x="4191000" y="2276475"/>
            <a:ext cx="3381375" cy="47625"/>
          </a:xfrm>
          <a:prstGeom prst="rect">
            <a:avLst/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DDC235A-EB2B-43FB-8CED-D49BBB7AF6DD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0263A"/>
                </a:solidFill>
              </a:defRPr>
            </a:pPr>
            <a:r>
              <a:rPr sz="1725" b="1">
                <a:solidFill>
                  <a:srgbClr val="10263A"/>
                </a:solidFill>
              </a:rPr>
              <a:t>11:15–12:10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4967B05-E808-4D7F-AE0E-85399B1438E2}"/>
              </a:ext>
            </a:extLst>
          </p:cNvPr>
          <p:cNvSpPr>
            <a:spLocks noGrp="1"/>
          </p:cNvSpPr>
          <p:nvPr/>
        </p:nvSpPr>
        <p:spPr>
          <a:xfrm>
            <a:off x="9477375" y="2095500"/>
            <a:ext cx="1762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patio 10:45–11:15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06723D6-EA7C-4AB3-8096-C5DAF6CE72F5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46B37B"/>
                </a:solidFill>
              </a:defRPr>
            </a:pPr>
            <a:r>
              <a:rPr sz="1650" b="1">
                <a:solidFill>
                  <a:srgbClr val="46B37B"/>
                </a:solidFill>
              </a:rPr>
              <a:t>MARTES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2A7FDFB-2DC7-496A-8D62-CA2C3DEE08E8}"/>
              </a:ext>
            </a:extLst>
          </p:cNvPr>
          <p:cNvSpPr>
            <a:spLocks noGrp="1"/>
          </p:cNvSpPr>
          <p:nvPr/>
        </p:nvSpPr>
        <p:spPr>
          <a:xfrm>
            <a:off x="2381250" y="33147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09:50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8E4747-2779-44E4-8A90-67A5D16FFC03}"/>
              </a:ext>
            </a:extLst>
          </p:cNvPr>
          <p:cNvSpPr>
            <a:spLocks noGrp="1"/>
          </p:cNvSpPr>
          <p:nvPr/>
        </p:nvSpPr>
        <p:spPr>
          <a:xfrm>
            <a:off x="4191000" y="3495675"/>
            <a:ext cx="3381375" cy="47625"/>
          </a:xfrm>
          <a:prstGeom prst="rect">
            <a:avLst/>
          </a:prstGeom>
          <a:solidFill>
            <a:srgbClr val="46B37B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99C1685-D9DF-4614-9FB4-C9DE875AD513}"/>
              </a:ext>
            </a:extLst>
          </p:cNvPr>
          <p:cNvSpPr>
            <a:spLocks noGrp="1"/>
          </p:cNvSpPr>
          <p:nvPr/>
        </p:nvSpPr>
        <p:spPr>
          <a:xfrm>
            <a:off x="7762875" y="33147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10:45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DAB7E50-CA0E-4990-A7CA-CFE462934A2A}"/>
              </a:ext>
            </a:extLst>
          </p:cNvPr>
          <p:cNvSpPr>
            <a:spLocks noGrp="1"/>
          </p:cNvSpPr>
          <p:nvPr/>
        </p:nvSpPr>
        <p:spPr>
          <a:xfrm>
            <a:off x="9477375" y="3314700"/>
            <a:ext cx="1762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55 min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F3FCEDD-48B3-4A87-8550-8F4A5F5F2739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5A524"/>
                </a:solidFill>
              </a:defRPr>
            </a:pPr>
            <a:r>
              <a:rPr sz="1650" b="1">
                <a:solidFill>
                  <a:srgbClr val="F5A524"/>
                </a:solidFill>
              </a:rPr>
              <a:t>JUEVES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96BAEB7-61F7-4EB1-9A4A-2605B25431D5}"/>
              </a:ext>
            </a:extLst>
          </p:cNvPr>
          <p:cNvSpPr>
            <a:spLocks noGrp="1"/>
          </p:cNvSpPr>
          <p:nvPr/>
        </p:nvSpPr>
        <p:spPr>
          <a:xfrm>
            <a:off x="2381250" y="45339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08:00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1ED74DE-A1AC-4340-9D7A-2493451519A7}"/>
              </a:ext>
            </a:extLst>
          </p:cNvPr>
          <p:cNvSpPr>
            <a:spLocks noGrp="1"/>
          </p:cNvSpPr>
          <p:nvPr/>
        </p:nvSpPr>
        <p:spPr>
          <a:xfrm>
            <a:off x="4191000" y="4714875"/>
            <a:ext cx="3381375" cy="47625"/>
          </a:xfrm>
          <a:prstGeom prst="rect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E178D18-FCB1-4D6D-BD71-BDE344838FAC}"/>
              </a:ext>
            </a:extLst>
          </p:cNvPr>
          <p:cNvSpPr>
            <a:spLocks noGrp="1"/>
          </p:cNvSpPr>
          <p:nvPr/>
        </p:nvSpPr>
        <p:spPr>
          <a:xfrm>
            <a:off x="7762875" y="45339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09:50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41E167E-A170-4AC8-A9C5-5B5BF18B9F83}"/>
              </a:ext>
            </a:extLst>
          </p:cNvPr>
          <p:cNvSpPr>
            <a:spLocks noGrp="1"/>
          </p:cNvSpPr>
          <p:nvPr/>
        </p:nvSpPr>
        <p:spPr>
          <a:xfrm>
            <a:off x="9477375" y="4533900"/>
            <a:ext cx="1762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1 h 50 min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3FF724F-7FC2-42AF-BCE0-79C059AFF2AB}"/>
              </a:ext>
            </a:extLst>
          </p:cNvPr>
          <p:cNvSpPr>
            <a:spLocks noGrp="1"/>
          </p:cNvSpPr>
          <p:nvPr/>
        </p:nvSpPr>
        <p:spPr>
          <a:xfrm>
            <a:off x="7239000" y="56578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725" b="1">
                <a:solidFill>
                  <a:srgbClr val="0A84C6"/>
                </a:solidFill>
              </a:defRPr>
            </a:pPr>
            <a:r>
              <a:rPr sz="1725" b="1">
                <a:solidFill>
                  <a:srgbClr val="0A84C6"/>
                </a:solidFill>
              </a:rPr>
              <a:t>275 min / semana · 4 h 35 min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0A4922F-C56E-486F-9AC7-7865BFEBCD1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Sistemas Informáticos · 1.º DAM · 2026–2027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1422F09-0375-4C9D-BD6C-78FA837C9DD8}"/>
              </a:ext>
            </a:extLst>
          </p:cNvPr>
          <p:cNvSpPr>
            <a:spLocks noGrp="1"/>
          </p:cNvSpPr>
          <p:nvPr/>
        </p:nvSpPr>
        <p:spPr>
          <a:xfrm>
            <a:off x="10896600" y="647700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7995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ángulo 47">
            <a:extLst>
              <a:ext uri="{FF2B5EF4-FFF2-40B4-BE49-F238E27FC236}">
                <a16:creationId xmlns:a16="http://schemas.microsoft.com/office/drawing/2014/main" id="{915A6860-7B44-4C4A-A340-0D4B4648B77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04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3223C4B-6830-43B5-A214-9E416273D90C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El curso avanza desde el equipo hasta la red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2EEAC1E-D8C7-4134-8574-879B772F9877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57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Cada unidad añade una capa de autonomía técnica.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531A8E8-5C1C-4222-82D8-AE631C6BBE2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28575"/>
          </a:xfrm>
          <a:prstGeom prst="rect">
            <a:avLst/>
          </a:prstGeom>
          <a:solidFill>
            <a:srgbClr val="22C7E8"/>
          </a:solidFill>
          <a:ln w="0">
            <a:noFill/>
            <a:prstDash val="solid"/>
          </a:ln>
        </p:spPr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78D6926-2D5C-418F-8660-F595979EAD50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1381125" cy="180975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BFD5DF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C1BC2A1-0F0B-4F82-A7BD-A3885D847826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1381125" cy="114300"/>
          </a:xfrm>
          <a:prstGeom prst="rect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E78238A-335B-4A0B-A80F-811C710AFA38}"/>
              </a:ext>
            </a:extLst>
          </p:cNvPr>
          <p:cNvSpPr>
            <a:spLocks noGrp="1"/>
          </p:cNvSpPr>
          <p:nvPr/>
        </p:nvSpPr>
        <p:spPr>
          <a:xfrm>
            <a:off x="819150" y="2619375"/>
            <a:ext cx="11144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UD1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80678CA-7AA5-40C2-902C-0F5DE4621691}"/>
              </a:ext>
            </a:extLst>
          </p:cNvPr>
          <p:cNvSpPr>
            <a:spLocks noGrp="1"/>
          </p:cNvSpPr>
          <p:nvPr/>
        </p:nvSpPr>
        <p:spPr>
          <a:xfrm>
            <a:off x="819150" y="3000375"/>
            <a:ext cx="11144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Hardware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4500A6-5B5B-47C7-824C-6FF25380B0DB}"/>
              </a:ext>
            </a:extLst>
          </p:cNvPr>
          <p:cNvSpPr>
            <a:spLocks noGrp="1"/>
          </p:cNvSpPr>
          <p:nvPr/>
        </p:nvSpPr>
        <p:spPr>
          <a:xfrm>
            <a:off x="819150" y="3714750"/>
            <a:ext cx="1114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15 h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22C8E44-74B2-43B0-8A6F-05E810D84FE2}"/>
              </a:ext>
            </a:extLst>
          </p:cNvPr>
          <p:cNvSpPr>
            <a:spLocks noGrp="1"/>
          </p:cNvSpPr>
          <p:nvPr/>
        </p:nvSpPr>
        <p:spPr>
          <a:xfrm>
            <a:off x="2209800" y="2333625"/>
            <a:ext cx="1381125" cy="180975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BFD5DF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677AA4C-92B8-4592-992E-5E6DCBA720C9}"/>
              </a:ext>
            </a:extLst>
          </p:cNvPr>
          <p:cNvSpPr>
            <a:spLocks noGrp="1"/>
          </p:cNvSpPr>
          <p:nvPr/>
        </p:nvSpPr>
        <p:spPr>
          <a:xfrm>
            <a:off x="2209800" y="2333625"/>
            <a:ext cx="1381125" cy="114300"/>
          </a:xfrm>
          <a:prstGeom prst="rect">
            <a:avLst/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75FA003-A262-46BA-A132-757136B51589}"/>
              </a:ext>
            </a:extLst>
          </p:cNvPr>
          <p:cNvSpPr>
            <a:spLocks noGrp="1"/>
          </p:cNvSpPr>
          <p:nvPr/>
        </p:nvSpPr>
        <p:spPr>
          <a:xfrm>
            <a:off x="2343150" y="2619375"/>
            <a:ext cx="11144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A84C6"/>
                </a:solidFill>
              </a:defRPr>
            </a:pPr>
            <a:r>
              <a:rPr sz="1350" b="1">
                <a:solidFill>
                  <a:srgbClr val="0A84C6"/>
                </a:solidFill>
              </a:rPr>
              <a:t>UD2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BCA2868-B92E-47C3-A56F-AC0E11DCB6B0}"/>
              </a:ext>
            </a:extLst>
          </p:cNvPr>
          <p:cNvSpPr>
            <a:spLocks noGrp="1"/>
          </p:cNvSpPr>
          <p:nvPr/>
        </p:nvSpPr>
        <p:spPr>
          <a:xfrm>
            <a:off x="2343150" y="3000375"/>
            <a:ext cx="11144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Fundamentos de SO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F01D233-C8B0-4AB5-8221-C4B8BEE5FB71}"/>
              </a:ext>
            </a:extLst>
          </p:cNvPr>
          <p:cNvSpPr>
            <a:spLocks noGrp="1"/>
          </p:cNvSpPr>
          <p:nvPr/>
        </p:nvSpPr>
        <p:spPr>
          <a:xfrm>
            <a:off x="2343150" y="3714750"/>
            <a:ext cx="1114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15 h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DD5DCD8-2FD1-493B-856E-E6AD3F6FE83B}"/>
              </a:ext>
            </a:extLst>
          </p:cNvPr>
          <p:cNvSpPr>
            <a:spLocks noGrp="1"/>
          </p:cNvSpPr>
          <p:nvPr/>
        </p:nvSpPr>
        <p:spPr>
          <a:xfrm>
            <a:off x="3733800" y="2333625"/>
            <a:ext cx="1381125" cy="180975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BFD5DF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59B2619-4B71-4454-8DD1-C3B9ED0DA391}"/>
              </a:ext>
            </a:extLst>
          </p:cNvPr>
          <p:cNvSpPr>
            <a:spLocks noGrp="1"/>
          </p:cNvSpPr>
          <p:nvPr/>
        </p:nvSpPr>
        <p:spPr>
          <a:xfrm>
            <a:off x="3733800" y="2333625"/>
            <a:ext cx="1381125" cy="114300"/>
          </a:xfrm>
          <a:prstGeom prst="rect">
            <a:avLst/>
          </a:prstGeom>
          <a:solidFill>
            <a:srgbClr val="22C7E8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CC1D400-6110-40B2-A274-44858F570761}"/>
              </a:ext>
            </a:extLst>
          </p:cNvPr>
          <p:cNvSpPr>
            <a:spLocks noGrp="1"/>
          </p:cNvSpPr>
          <p:nvPr/>
        </p:nvSpPr>
        <p:spPr>
          <a:xfrm>
            <a:off x="3867150" y="2619375"/>
            <a:ext cx="11144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2C7E8"/>
                </a:solidFill>
              </a:defRPr>
            </a:pPr>
            <a:r>
              <a:rPr sz="1350" b="1">
                <a:solidFill>
                  <a:srgbClr val="22C7E8"/>
                </a:solidFill>
              </a:rPr>
              <a:t>UD3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91F3BE1-95CA-499D-96FF-25C43B2BB920}"/>
              </a:ext>
            </a:extLst>
          </p:cNvPr>
          <p:cNvSpPr>
            <a:spLocks noGrp="1"/>
          </p:cNvSpPr>
          <p:nvPr/>
        </p:nvSpPr>
        <p:spPr>
          <a:xfrm>
            <a:off x="3867150" y="3000375"/>
            <a:ext cx="11144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Instalación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95D0418-2053-45C9-B496-29DB91F51EA1}"/>
              </a:ext>
            </a:extLst>
          </p:cNvPr>
          <p:cNvSpPr>
            <a:spLocks noGrp="1"/>
          </p:cNvSpPr>
          <p:nvPr/>
        </p:nvSpPr>
        <p:spPr>
          <a:xfrm>
            <a:off x="3867150" y="3714750"/>
            <a:ext cx="1114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10 h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9A96F713-47E0-4EB4-9938-95A4865929F8}"/>
              </a:ext>
            </a:extLst>
          </p:cNvPr>
          <p:cNvSpPr>
            <a:spLocks noGrp="1"/>
          </p:cNvSpPr>
          <p:nvPr/>
        </p:nvSpPr>
        <p:spPr>
          <a:xfrm>
            <a:off x="5257800" y="2333625"/>
            <a:ext cx="1381125" cy="180975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BFD5DF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D64907B-4EC4-49E6-84F3-D13B07DF6E09}"/>
              </a:ext>
            </a:extLst>
          </p:cNvPr>
          <p:cNvSpPr>
            <a:spLocks noGrp="1"/>
          </p:cNvSpPr>
          <p:nvPr/>
        </p:nvSpPr>
        <p:spPr>
          <a:xfrm>
            <a:off x="5257800" y="2333625"/>
            <a:ext cx="1381125" cy="114300"/>
          </a:xfrm>
          <a:prstGeom prst="rect">
            <a:avLst/>
          </a:prstGeom>
          <a:solidFill>
            <a:srgbClr val="46B37B"/>
          </a:solidFill>
          <a:ln w="0">
            <a:noFill/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A67E6FA-0C39-4E71-AE57-EC41E8A30430}"/>
              </a:ext>
            </a:extLst>
          </p:cNvPr>
          <p:cNvSpPr>
            <a:spLocks noGrp="1"/>
          </p:cNvSpPr>
          <p:nvPr/>
        </p:nvSpPr>
        <p:spPr>
          <a:xfrm>
            <a:off x="5391150" y="2619375"/>
            <a:ext cx="11144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46B37B"/>
                </a:solidFill>
              </a:defRPr>
            </a:pPr>
            <a:r>
              <a:rPr sz="1350" b="1">
                <a:solidFill>
                  <a:srgbClr val="46B37B"/>
                </a:solidFill>
              </a:rPr>
              <a:t>UD4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F2D5839-A3E0-4133-B609-A8FC4D1BF3E0}"/>
              </a:ext>
            </a:extLst>
          </p:cNvPr>
          <p:cNvSpPr>
            <a:spLocks noGrp="1"/>
          </p:cNvSpPr>
          <p:nvPr/>
        </p:nvSpPr>
        <p:spPr>
          <a:xfrm>
            <a:off x="5391150" y="3000375"/>
            <a:ext cx="11144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Gestión de información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2735DC8-CB7B-4526-8091-AB47FD33C919}"/>
              </a:ext>
            </a:extLst>
          </p:cNvPr>
          <p:cNvSpPr>
            <a:spLocks noGrp="1"/>
          </p:cNvSpPr>
          <p:nvPr/>
        </p:nvSpPr>
        <p:spPr>
          <a:xfrm>
            <a:off x="5391150" y="3714750"/>
            <a:ext cx="1114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20 h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D06EB8EF-6178-4819-9AE4-F4852D36EBD0}"/>
              </a:ext>
            </a:extLst>
          </p:cNvPr>
          <p:cNvSpPr>
            <a:spLocks noGrp="1"/>
          </p:cNvSpPr>
          <p:nvPr/>
        </p:nvSpPr>
        <p:spPr>
          <a:xfrm>
            <a:off x="6781800" y="2333625"/>
            <a:ext cx="1381125" cy="180975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BFD5DF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593761F-DD3F-4A05-A03E-758A3F1693EA}"/>
              </a:ext>
            </a:extLst>
          </p:cNvPr>
          <p:cNvSpPr>
            <a:spLocks noGrp="1"/>
          </p:cNvSpPr>
          <p:nvPr/>
        </p:nvSpPr>
        <p:spPr>
          <a:xfrm>
            <a:off x="6781800" y="2333625"/>
            <a:ext cx="1381125" cy="114300"/>
          </a:xfrm>
          <a:prstGeom prst="rect">
            <a:avLst/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FE4E8E9-2623-4460-8748-0B110287B4FC}"/>
              </a:ext>
            </a:extLst>
          </p:cNvPr>
          <p:cNvSpPr>
            <a:spLocks noGrp="1"/>
          </p:cNvSpPr>
          <p:nvPr/>
        </p:nvSpPr>
        <p:spPr>
          <a:xfrm>
            <a:off x="6915150" y="2619375"/>
            <a:ext cx="11144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A84C6"/>
                </a:solidFill>
              </a:defRPr>
            </a:pPr>
            <a:r>
              <a:rPr sz="1350" b="1">
                <a:solidFill>
                  <a:srgbClr val="0A84C6"/>
                </a:solidFill>
              </a:rPr>
              <a:t>UD5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08A7108-AAB4-439B-B4BE-68E04AF0A0B9}"/>
              </a:ext>
            </a:extLst>
          </p:cNvPr>
          <p:cNvSpPr>
            <a:spLocks noGrp="1"/>
          </p:cNvSpPr>
          <p:nvPr/>
        </p:nvSpPr>
        <p:spPr>
          <a:xfrm>
            <a:off x="6915150" y="3000375"/>
            <a:ext cx="11144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Administración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D1B7358-F175-4ABC-8EB6-F69AE3BAAE58}"/>
              </a:ext>
            </a:extLst>
          </p:cNvPr>
          <p:cNvSpPr>
            <a:spLocks noGrp="1"/>
          </p:cNvSpPr>
          <p:nvPr/>
        </p:nvSpPr>
        <p:spPr>
          <a:xfrm>
            <a:off x="6915150" y="3714750"/>
            <a:ext cx="1114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20 h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280A81F0-30FA-4CC0-B2D9-CF16845632D7}"/>
              </a:ext>
            </a:extLst>
          </p:cNvPr>
          <p:cNvSpPr>
            <a:spLocks noGrp="1"/>
          </p:cNvSpPr>
          <p:nvPr/>
        </p:nvSpPr>
        <p:spPr>
          <a:xfrm>
            <a:off x="8305800" y="2333625"/>
            <a:ext cx="1381125" cy="180975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BFD5DF"/>
            </a:solidFill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FF5B406-A04F-4B66-807B-0453E60659B5}"/>
              </a:ext>
            </a:extLst>
          </p:cNvPr>
          <p:cNvSpPr>
            <a:spLocks noGrp="1"/>
          </p:cNvSpPr>
          <p:nvPr/>
        </p:nvSpPr>
        <p:spPr>
          <a:xfrm>
            <a:off x="8305800" y="2333625"/>
            <a:ext cx="1381125" cy="114300"/>
          </a:xfrm>
          <a:prstGeom prst="rect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06F4BDD-9800-4921-8796-FB2AB080B7D4}"/>
              </a:ext>
            </a:extLst>
          </p:cNvPr>
          <p:cNvSpPr>
            <a:spLocks noGrp="1"/>
          </p:cNvSpPr>
          <p:nvPr/>
        </p:nvSpPr>
        <p:spPr>
          <a:xfrm>
            <a:off x="8439150" y="2619375"/>
            <a:ext cx="11144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UD6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C9CBF58-0836-4210-9247-C463F12691D7}"/>
              </a:ext>
            </a:extLst>
          </p:cNvPr>
          <p:cNvSpPr>
            <a:spLocks noGrp="1"/>
          </p:cNvSpPr>
          <p:nvPr/>
        </p:nvSpPr>
        <p:spPr>
          <a:xfrm>
            <a:off x="8439150" y="3000375"/>
            <a:ext cx="11144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Scripting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9D29868-30EF-4EC6-83D8-EE316F49EA86}"/>
              </a:ext>
            </a:extLst>
          </p:cNvPr>
          <p:cNvSpPr>
            <a:spLocks noGrp="1"/>
          </p:cNvSpPr>
          <p:nvPr/>
        </p:nvSpPr>
        <p:spPr>
          <a:xfrm>
            <a:off x="8439150" y="3714750"/>
            <a:ext cx="1114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30 h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53009763-56E3-472E-B609-FE6273EBEF2E}"/>
              </a:ext>
            </a:extLst>
          </p:cNvPr>
          <p:cNvSpPr>
            <a:spLocks noGrp="1"/>
          </p:cNvSpPr>
          <p:nvPr/>
        </p:nvSpPr>
        <p:spPr>
          <a:xfrm>
            <a:off x="9829800" y="2333625"/>
            <a:ext cx="1381125" cy="180975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BFD5DF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0C78985-5C02-4530-836E-1F38F1B3C773}"/>
              </a:ext>
            </a:extLst>
          </p:cNvPr>
          <p:cNvSpPr>
            <a:spLocks noGrp="1"/>
          </p:cNvSpPr>
          <p:nvPr/>
        </p:nvSpPr>
        <p:spPr>
          <a:xfrm>
            <a:off x="9829800" y="2333625"/>
            <a:ext cx="1381125" cy="114300"/>
          </a:xfrm>
          <a:prstGeom prst="rect">
            <a:avLst/>
          </a:prstGeom>
          <a:solidFill>
            <a:srgbClr val="10263A"/>
          </a:solidFill>
          <a:ln w="0">
            <a:noFill/>
            <a:prstDash val="solid"/>
          </a:ln>
        </p:spPr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01A436C-4B6E-49A8-9B0D-AEDB62939DF5}"/>
              </a:ext>
            </a:extLst>
          </p:cNvPr>
          <p:cNvSpPr>
            <a:spLocks noGrp="1"/>
          </p:cNvSpPr>
          <p:nvPr/>
        </p:nvSpPr>
        <p:spPr>
          <a:xfrm>
            <a:off x="9963150" y="2619375"/>
            <a:ext cx="11144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UD7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545A7A35-624B-487E-96F9-0551CD8FC2E5}"/>
              </a:ext>
            </a:extLst>
          </p:cNvPr>
          <p:cNvSpPr>
            <a:spLocks noGrp="1"/>
          </p:cNvSpPr>
          <p:nvPr/>
        </p:nvSpPr>
        <p:spPr>
          <a:xfrm>
            <a:off x="9963150" y="3000375"/>
            <a:ext cx="11144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Redes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13EF7A6-C6BC-4425-AB66-361D34A6FC6B}"/>
              </a:ext>
            </a:extLst>
          </p:cNvPr>
          <p:cNvSpPr>
            <a:spLocks noGrp="1"/>
          </p:cNvSpPr>
          <p:nvPr/>
        </p:nvSpPr>
        <p:spPr>
          <a:xfrm>
            <a:off x="9963150" y="3714750"/>
            <a:ext cx="1114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50 h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5169C20F-4689-49DE-91A1-FB1EE650B524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A84C6"/>
                </a:solidFill>
              </a:defRPr>
            </a:pPr>
            <a:r>
              <a:rPr sz="1650" b="1">
                <a:solidFill>
                  <a:srgbClr val="0A84C6"/>
                </a:solidFill>
              </a:rPr>
              <a:t>40 h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8A95AA03-CB6C-450F-B7DC-24E01A9E3062}"/>
              </a:ext>
            </a:extLst>
          </p:cNvPr>
          <p:cNvSpPr>
            <a:spLocks noGrp="1"/>
          </p:cNvSpPr>
          <p:nvPr/>
        </p:nvSpPr>
        <p:spPr>
          <a:xfrm>
            <a:off x="5067300" y="46863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46B37B"/>
                </a:solidFill>
              </a:defRPr>
            </a:pPr>
            <a:r>
              <a:rPr sz="1650" b="1">
                <a:solidFill>
                  <a:srgbClr val="46B37B"/>
                </a:solidFill>
              </a:rPr>
              <a:t>70 h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F020ADD9-5AB7-414B-8E52-3E457DDF9AF8}"/>
              </a:ext>
            </a:extLst>
          </p:cNvPr>
          <p:cNvSpPr>
            <a:spLocks noGrp="1"/>
          </p:cNvSpPr>
          <p:nvPr/>
        </p:nvSpPr>
        <p:spPr>
          <a:xfrm>
            <a:off x="9544050" y="46863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5A524"/>
                </a:solidFill>
              </a:defRPr>
            </a:pPr>
            <a:r>
              <a:rPr sz="1650" b="1">
                <a:solidFill>
                  <a:srgbClr val="F5A524"/>
                </a:solidFill>
              </a:rPr>
              <a:t>50 h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3E088245-E25F-4B97-B700-9F80F075A924}"/>
              </a:ext>
            </a:extLst>
          </p:cNvPr>
          <p:cNvSpPr>
            <a:spLocks noGrp="1"/>
          </p:cNvSpPr>
          <p:nvPr/>
        </p:nvSpPr>
        <p:spPr>
          <a:xfrm>
            <a:off x="876300" y="50673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1.er trimestre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1B923CBC-4775-410F-90DD-769A5E6C7D28}"/>
              </a:ext>
            </a:extLst>
          </p:cNvPr>
          <p:cNvSpPr>
            <a:spLocks noGrp="1"/>
          </p:cNvSpPr>
          <p:nvPr/>
        </p:nvSpPr>
        <p:spPr>
          <a:xfrm>
            <a:off x="5067300" y="506730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2.º trimestre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368AE17A-2781-40DD-A774-BA0BE27407C1}"/>
              </a:ext>
            </a:extLst>
          </p:cNvPr>
          <p:cNvSpPr>
            <a:spLocks noGrp="1"/>
          </p:cNvSpPr>
          <p:nvPr/>
        </p:nvSpPr>
        <p:spPr>
          <a:xfrm>
            <a:off x="9544050" y="5067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3.er trimestre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644E44CC-E80F-49A6-9A6A-2E92091A596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Sistemas Informáticos · 1.º DAM · 2026–2027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C31946A1-F21D-48A9-A44D-13DA6F0BE86F}"/>
              </a:ext>
            </a:extLst>
          </p:cNvPr>
          <p:cNvSpPr>
            <a:spLocks noGrp="1"/>
          </p:cNvSpPr>
          <p:nvPr/>
        </p:nvSpPr>
        <p:spPr>
          <a:xfrm>
            <a:off x="10896600" y="647700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0302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9842A0C3-34DD-40C8-A97E-0476573E9D8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A50DF9C-1E22-4684-8D84-572AD7F5D271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Aprenderemos trabajando como un pequeño laboratorio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9BEF98E-6BC3-4024-9F70-3A74728A95E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57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La teoría abre el camino; la evidencia demuestra que el sistema funciona.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E5DCA9E-9776-4A52-B43B-92972214DBD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28575"/>
          </a:xfrm>
          <a:prstGeom prst="rect">
            <a:avLst/>
          </a:prstGeom>
          <a:solidFill>
            <a:srgbClr val="22C7E8"/>
          </a:solidFill>
          <a:ln w="0">
            <a:noFill/>
            <a:prstDash val="solid"/>
          </a:ln>
        </p:spPr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29AD18B-5901-49E9-8FEA-4CF91CE9ED0B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512B042-615C-4CAA-BF88-78286A2DCD53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83A8E59-436A-4537-A690-0202EA6E99F0}"/>
              </a:ext>
            </a:extLst>
          </p:cNvPr>
          <p:cNvSpPr>
            <a:spLocks noGrp="1"/>
          </p:cNvSpPr>
          <p:nvPr/>
        </p:nvSpPr>
        <p:spPr>
          <a:xfrm>
            <a:off x="1466850" y="2781300"/>
            <a:ext cx="1238250" cy="38100"/>
          </a:xfrm>
          <a:prstGeom prst="rect">
            <a:avLst/>
          </a:prstGeom>
          <a:solidFill>
            <a:srgbClr val="BFD5DF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955DE8C-9E4D-4527-A864-7F3CA6425F2A}"/>
              </a:ext>
            </a:extLst>
          </p:cNvPr>
          <p:cNvSpPr>
            <a:spLocks noGrp="1"/>
          </p:cNvSpPr>
          <p:nvPr/>
        </p:nvSpPr>
        <p:spPr>
          <a:xfrm>
            <a:off x="571500" y="34480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EXPLICAR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884CA03-6D84-4E4A-B82F-262409CC24DE}"/>
              </a:ext>
            </a:extLst>
          </p:cNvPr>
          <p:cNvSpPr>
            <a:spLocks noGrp="1"/>
          </p:cNvSpPr>
          <p:nvPr/>
        </p:nvSpPr>
        <p:spPr>
          <a:xfrm>
            <a:off x="476250" y="3829050"/>
            <a:ext cx="1809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Concepto y demostración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94BCFB4-B30C-47D5-A635-07D41211647B}"/>
              </a:ext>
            </a:extLst>
          </p:cNvPr>
          <p:cNvSpPr>
            <a:spLocks noGrp="1"/>
          </p:cNvSpPr>
          <p:nvPr/>
        </p:nvSpPr>
        <p:spPr>
          <a:xfrm>
            <a:off x="2895600" y="24574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96B4987-6D82-40B2-AD10-B44C2EBFB760}"/>
              </a:ext>
            </a:extLst>
          </p:cNvPr>
          <p:cNvSpPr>
            <a:spLocks noGrp="1"/>
          </p:cNvSpPr>
          <p:nvPr/>
        </p:nvSpPr>
        <p:spPr>
          <a:xfrm>
            <a:off x="2895600" y="2457450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939C591-334E-4D9A-9636-5C7398E27DB8}"/>
              </a:ext>
            </a:extLst>
          </p:cNvPr>
          <p:cNvSpPr>
            <a:spLocks noGrp="1"/>
          </p:cNvSpPr>
          <p:nvPr/>
        </p:nvSpPr>
        <p:spPr>
          <a:xfrm>
            <a:off x="3676650" y="2781300"/>
            <a:ext cx="1238250" cy="38100"/>
          </a:xfrm>
          <a:prstGeom prst="rect">
            <a:avLst/>
          </a:prstGeom>
          <a:solidFill>
            <a:srgbClr val="BFD5DF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497C695-B168-43DF-93ED-057C969D43E7}"/>
              </a:ext>
            </a:extLst>
          </p:cNvPr>
          <p:cNvSpPr>
            <a:spLocks noGrp="1"/>
          </p:cNvSpPr>
          <p:nvPr/>
        </p:nvSpPr>
        <p:spPr>
          <a:xfrm>
            <a:off x="2781300" y="34480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CONFIGURAR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B7D0D14-C9CC-4D0C-BA92-7C4204BD8296}"/>
              </a:ext>
            </a:extLst>
          </p:cNvPr>
          <p:cNvSpPr>
            <a:spLocks noGrp="1"/>
          </p:cNvSpPr>
          <p:nvPr/>
        </p:nvSpPr>
        <p:spPr>
          <a:xfrm>
            <a:off x="2686050" y="3829050"/>
            <a:ext cx="1809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Práctica guiada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78D4013-44E1-40CA-A36B-2CBB9CAA2785}"/>
              </a:ext>
            </a:extLst>
          </p:cNvPr>
          <p:cNvSpPr>
            <a:spLocks noGrp="1"/>
          </p:cNvSpPr>
          <p:nvPr/>
        </p:nvSpPr>
        <p:spPr>
          <a:xfrm>
            <a:off x="5105400" y="24574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9D9CF43-B453-46DD-ABBE-B118851ADCB0}"/>
              </a:ext>
            </a:extLst>
          </p:cNvPr>
          <p:cNvSpPr>
            <a:spLocks noGrp="1"/>
          </p:cNvSpPr>
          <p:nvPr/>
        </p:nvSpPr>
        <p:spPr>
          <a:xfrm>
            <a:off x="5105400" y="2457450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AD70E8D-4C3E-4D92-BC57-FD5D90FDCF14}"/>
              </a:ext>
            </a:extLst>
          </p:cNvPr>
          <p:cNvSpPr>
            <a:spLocks noGrp="1"/>
          </p:cNvSpPr>
          <p:nvPr/>
        </p:nvSpPr>
        <p:spPr>
          <a:xfrm>
            <a:off x="5886450" y="2781300"/>
            <a:ext cx="1238250" cy="38100"/>
          </a:xfrm>
          <a:prstGeom prst="rect">
            <a:avLst/>
          </a:prstGeom>
          <a:solidFill>
            <a:srgbClr val="BFD5DF"/>
          </a:solidFill>
          <a:ln w="0">
            <a:noFill/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CE0A6CB-5FA8-4C44-B02A-8AB34C98AF8F}"/>
              </a:ext>
            </a:extLst>
          </p:cNvPr>
          <p:cNvSpPr>
            <a:spLocks noGrp="1"/>
          </p:cNvSpPr>
          <p:nvPr/>
        </p:nvSpPr>
        <p:spPr>
          <a:xfrm>
            <a:off x="4991100" y="34480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PROBAR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6990F18-A354-4D37-ADA2-1E5A7C91E2EB}"/>
              </a:ext>
            </a:extLst>
          </p:cNvPr>
          <p:cNvSpPr>
            <a:spLocks noGrp="1"/>
          </p:cNvSpPr>
          <p:nvPr/>
        </p:nvSpPr>
        <p:spPr>
          <a:xfrm>
            <a:off x="4895850" y="3829050"/>
            <a:ext cx="1809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Reto e incidencias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2E607E4-5B5C-4802-9CB3-3F7F0ACF1F3B}"/>
              </a:ext>
            </a:extLst>
          </p:cNvPr>
          <p:cNvSpPr>
            <a:spLocks noGrp="1"/>
          </p:cNvSpPr>
          <p:nvPr/>
        </p:nvSpPr>
        <p:spPr>
          <a:xfrm>
            <a:off x="7315200" y="24574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11A0D10-3FBD-4F36-A5CF-BFC21538A217}"/>
              </a:ext>
            </a:extLst>
          </p:cNvPr>
          <p:cNvSpPr>
            <a:spLocks noGrp="1"/>
          </p:cNvSpPr>
          <p:nvPr/>
        </p:nvSpPr>
        <p:spPr>
          <a:xfrm>
            <a:off x="7315200" y="2457450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8F4C9FF-17C9-4A6D-99EF-1094871560C0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1238250" cy="38100"/>
          </a:xfrm>
          <a:prstGeom prst="rect">
            <a:avLst/>
          </a:prstGeom>
          <a:solidFill>
            <a:srgbClr val="BFD5DF"/>
          </a:solidFill>
          <a:ln w="0">
            <a:noFill/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6A71C4C-BE5E-476F-8B1E-FBA8CB9F4286}"/>
              </a:ext>
            </a:extLst>
          </p:cNvPr>
          <p:cNvSpPr>
            <a:spLocks noGrp="1"/>
          </p:cNvSpPr>
          <p:nvPr/>
        </p:nvSpPr>
        <p:spPr>
          <a:xfrm>
            <a:off x="7200900" y="34480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DOCUMENTAR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6EEECD3-7633-42FE-9453-92625347BF48}"/>
              </a:ext>
            </a:extLst>
          </p:cNvPr>
          <p:cNvSpPr>
            <a:spLocks noGrp="1"/>
          </p:cNvSpPr>
          <p:nvPr/>
        </p:nvSpPr>
        <p:spPr>
          <a:xfrm>
            <a:off x="7105650" y="3829050"/>
            <a:ext cx="1809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Pasos y evidencias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AC08CD89-2872-4CF6-A162-3AA2BE02BD74}"/>
              </a:ext>
            </a:extLst>
          </p:cNvPr>
          <p:cNvSpPr>
            <a:spLocks noGrp="1"/>
          </p:cNvSpPr>
          <p:nvPr/>
        </p:nvSpPr>
        <p:spPr>
          <a:xfrm>
            <a:off x="9525000" y="24574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E99616E-34E0-47E5-8861-53F94984DD1C}"/>
              </a:ext>
            </a:extLst>
          </p:cNvPr>
          <p:cNvSpPr>
            <a:spLocks noGrp="1"/>
          </p:cNvSpPr>
          <p:nvPr/>
        </p:nvSpPr>
        <p:spPr>
          <a:xfrm>
            <a:off x="9525000" y="2457450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DA0591B-1727-4192-9580-129A71410C32}"/>
              </a:ext>
            </a:extLst>
          </p:cNvPr>
          <p:cNvSpPr>
            <a:spLocks noGrp="1"/>
          </p:cNvSpPr>
          <p:nvPr/>
        </p:nvSpPr>
        <p:spPr>
          <a:xfrm>
            <a:off x="9410700" y="34480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MEJORAR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A48AD4F-9AE0-47A7-BA22-5E4BD8912AC4}"/>
              </a:ext>
            </a:extLst>
          </p:cNvPr>
          <p:cNvSpPr>
            <a:spLocks noGrp="1"/>
          </p:cNvSpPr>
          <p:nvPr/>
        </p:nvSpPr>
        <p:spPr>
          <a:xfrm>
            <a:off x="9315450" y="3829050"/>
            <a:ext cx="1809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Conclusiones y refuerzo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A92D97C-A6F1-4DA0-8A02-AF8D9F991B5C}"/>
              </a:ext>
            </a:extLst>
          </p:cNvPr>
          <p:cNvSpPr>
            <a:spLocks noGrp="1"/>
          </p:cNvSpPr>
          <p:nvPr/>
        </p:nvSpPr>
        <p:spPr>
          <a:xfrm>
            <a:off x="1714500" y="521970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0A84C6"/>
                </a:solidFill>
              </a:defRPr>
            </a:pPr>
            <a:r>
              <a:rPr sz="2100" b="1">
                <a:solidFill>
                  <a:srgbClr val="0A84C6"/>
                </a:solidFill>
              </a:rPr>
              <a:t>Error → prueba → solución → conclusión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E44F85C-7783-4AB2-B955-56510704B1E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Sistemas Informáticos · 1.º DAM · 2026–2027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B30A2D7-9312-4AFB-B9B8-4378BA9BAEEF}"/>
              </a:ext>
            </a:extLst>
          </p:cNvPr>
          <p:cNvSpPr>
            <a:spLocks noGrp="1"/>
          </p:cNvSpPr>
          <p:nvPr/>
        </p:nvSpPr>
        <p:spPr>
          <a:xfrm>
            <a:off x="10896600" y="647700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4184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FB3953C3-085E-4E99-984F-8E16B032109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06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5B4B09-E574-425E-9619-BAA6EC44F1D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Trabajaremos con sistemas reales en entornos seguros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99614AD-56F7-4CC7-BD16-B2630EF64935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10972800" cy="28575"/>
          </a:xfrm>
          <a:prstGeom prst="rect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127250"/>
            <a:ext cx="5048250" cy="33655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682027A-E596-4761-A3CB-834D291921C7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GNU/Linux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BC0736A-3ECB-4510-98F8-08D8546AE471}"/>
              </a:ext>
            </a:extLst>
          </p:cNvPr>
          <p:cNvSpPr>
            <a:spLocks noGrp="1"/>
          </p:cNvSpPr>
          <p:nvPr/>
        </p:nvSpPr>
        <p:spPr>
          <a:xfrm>
            <a:off x="8191500" y="20002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Ubuntu LTS y terminal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1164B48-205C-4F4C-AB46-28E60EEBB8FF}"/>
              </a:ext>
            </a:extLst>
          </p:cNvPr>
          <p:cNvSpPr>
            <a:spLocks noGrp="1"/>
          </p:cNvSpPr>
          <p:nvPr/>
        </p:nvSpPr>
        <p:spPr>
          <a:xfrm>
            <a:off x="6191250" y="2524125"/>
            <a:ext cx="5143500" cy="9525"/>
          </a:xfrm>
          <a:prstGeom prst="rect">
            <a:avLst/>
          </a:prstGeom>
          <a:solidFill>
            <a:srgbClr val="28475B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F230522-165F-44CC-916C-83091F5ADB90}"/>
              </a:ext>
            </a:extLst>
          </p:cNvPr>
          <p:cNvSpPr>
            <a:spLocks noGrp="1"/>
          </p:cNvSpPr>
          <p:nvPr/>
        </p:nvSpPr>
        <p:spPr>
          <a:xfrm>
            <a:off x="6191250" y="27432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Microsoft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1A622CE-13DA-4A6C-AD04-3AEF8217D7B0}"/>
              </a:ext>
            </a:extLst>
          </p:cNvPr>
          <p:cNvSpPr>
            <a:spLocks noGrp="1"/>
          </p:cNvSpPr>
          <p:nvPr/>
        </p:nvSpPr>
        <p:spPr>
          <a:xfrm>
            <a:off x="8191500" y="27432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Windows 11 y Windows Server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A8F59E9-D7A3-4608-8F49-4ABBA549F138}"/>
              </a:ext>
            </a:extLst>
          </p:cNvPr>
          <p:cNvSpPr>
            <a:spLocks noGrp="1"/>
          </p:cNvSpPr>
          <p:nvPr/>
        </p:nvSpPr>
        <p:spPr>
          <a:xfrm>
            <a:off x="6191250" y="3267075"/>
            <a:ext cx="5143500" cy="9525"/>
          </a:xfrm>
          <a:prstGeom prst="rect">
            <a:avLst/>
          </a:prstGeom>
          <a:solidFill>
            <a:srgbClr val="28475B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A682CB1-1B03-40B6-8D03-1596C29C9FFE}"/>
              </a:ext>
            </a:extLst>
          </p:cNvPr>
          <p:cNvSpPr>
            <a:spLocks noGrp="1"/>
          </p:cNvSpPr>
          <p:nvPr/>
        </p:nvSpPr>
        <p:spPr>
          <a:xfrm>
            <a:off x="6191250" y="34861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Virtualización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EA5A419-FDEC-400D-81AE-C3751C69B3B4}"/>
              </a:ext>
            </a:extLst>
          </p:cNvPr>
          <p:cNvSpPr>
            <a:spLocks noGrp="1"/>
          </p:cNvSpPr>
          <p:nvPr/>
        </p:nvSpPr>
        <p:spPr>
          <a:xfrm>
            <a:off x="8191500" y="34861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VirtualBox, instantáneas y redes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A6C2EAE-EC1A-47B5-9DDF-24A72708823B}"/>
              </a:ext>
            </a:extLst>
          </p:cNvPr>
          <p:cNvSpPr>
            <a:spLocks noGrp="1"/>
          </p:cNvSpPr>
          <p:nvPr/>
        </p:nvSpPr>
        <p:spPr>
          <a:xfrm>
            <a:off x="6191250" y="4010025"/>
            <a:ext cx="5143500" cy="9525"/>
          </a:xfrm>
          <a:prstGeom prst="rect">
            <a:avLst/>
          </a:prstGeom>
          <a:solidFill>
            <a:srgbClr val="28475B"/>
          </a:solidFill>
          <a:ln w="0">
            <a:noFill/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F6274FE-09DF-44C1-A1BF-D68239B25E44}"/>
              </a:ext>
            </a:extLst>
          </p:cNvPr>
          <p:cNvSpPr>
            <a:spLocks noGrp="1"/>
          </p:cNvSpPr>
          <p:nvPr/>
        </p:nvSpPr>
        <p:spPr>
          <a:xfrm>
            <a:off x="6191250" y="42291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Contenedores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96B6042-7EC6-4351-A4E7-8C38006DD847}"/>
              </a:ext>
            </a:extLst>
          </p:cNvPr>
          <p:cNvSpPr>
            <a:spLocks noGrp="1"/>
          </p:cNvSpPr>
          <p:nvPr/>
        </p:nvSpPr>
        <p:spPr>
          <a:xfrm>
            <a:off x="8191500" y="42291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Docker y Compose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7448DDB-0165-4BF5-9485-A2425824BFF8}"/>
              </a:ext>
            </a:extLst>
          </p:cNvPr>
          <p:cNvSpPr>
            <a:spLocks noGrp="1"/>
          </p:cNvSpPr>
          <p:nvPr/>
        </p:nvSpPr>
        <p:spPr>
          <a:xfrm>
            <a:off x="6191250" y="4752975"/>
            <a:ext cx="5143500" cy="9525"/>
          </a:xfrm>
          <a:prstGeom prst="rect">
            <a:avLst/>
          </a:prstGeom>
          <a:solidFill>
            <a:srgbClr val="28475B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6C85377-AAE8-4B0C-83E4-9ACA70F86633}"/>
              </a:ext>
            </a:extLst>
          </p:cNvPr>
          <p:cNvSpPr>
            <a:spLocks noGrp="1"/>
          </p:cNvSpPr>
          <p:nvPr/>
        </p:nvSpPr>
        <p:spPr>
          <a:xfrm>
            <a:off x="6191250" y="49720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5A524"/>
                </a:solidFill>
              </a:defRPr>
            </a:pPr>
            <a:r>
              <a:rPr sz="1425" b="1">
                <a:solidFill>
                  <a:srgbClr val="F5A524"/>
                </a:solidFill>
              </a:rPr>
              <a:t>Nube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1606975-DBA7-41C2-AD27-449AA5EA15EE}"/>
              </a:ext>
            </a:extLst>
          </p:cNvPr>
          <p:cNvSpPr>
            <a:spLocks noGrp="1"/>
          </p:cNvSpPr>
          <p:nvPr/>
        </p:nvSpPr>
        <p:spPr>
          <a:xfrm>
            <a:off x="8191500" y="49720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Azure y/o AWS según la unidad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1B5BBDF-2514-4196-8E62-A2713DDE345F}"/>
              </a:ext>
            </a:extLst>
          </p:cNvPr>
          <p:cNvSpPr>
            <a:spLocks noGrp="1"/>
          </p:cNvSpPr>
          <p:nvPr/>
        </p:nvSpPr>
        <p:spPr>
          <a:xfrm>
            <a:off x="6191250" y="5495925"/>
            <a:ext cx="5143500" cy="9525"/>
          </a:xfrm>
          <a:prstGeom prst="rect">
            <a:avLst/>
          </a:prstGeom>
          <a:solidFill>
            <a:srgbClr val="28475B"/>
          </a:solidFill>
          <a:ln w="0">
            <a:noFill/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CC5D419-261F-4CC5-9CD9-3D67368F2E0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Sistemas Informáticos · 1.º DAM · 2026–2027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4B8CCB4-DA6F-4097-9A89-222D1DE954F1}"/>
              </a:ext>
            </a:extLst>
          </p:cNvPr>
          <p:cNvSpPr>
            <a:spLocks noGrp="1"/>
          </p:cNvSpPr>
          <p:nvPr/>
        </p:nvSpPr>
        <p:spPr>
          <a:xfrm>
            <a:off x="10896600" y="647700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8409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C2259E58-1B23-4864-AE8B-D83EC1F88CD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07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E4A0288-D17B-41E9-9C68-F2E9E66FAB51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La evaluación combina dominio técnico y trabajo continuado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38012F2-3BBD-4110-AED0-B0B7F74B527E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57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Los dos bloques deben demostrar que sabes hacer y explicar lo que haces.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DFDB26B-7755-4676-B1CE-92327A5D363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28575"/>
          </a:xfrm>
          <a:prstGeom prst="rect">
            <a:avLst/>
          </a:prstGeom>
          <a:solidFill>
            <a:srgbClr val="22C7E8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B5D033-98AE-4A58-BFDA-F31AF71A2CBC}"/>
              </a:ext>
            </a:extLst>
          </p:cNvPr>
          <p:cNvSpPr>
            <a:spLocks noGrp="1"/>
          </p:cNvSpPr>
          <p:nvPr/>
        </p:nvSpPr>
        <p:spPr>
          <a:xfrm>
            <a:off x="952500" y="2171700"/>
            <a:ext cx="2381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5250" b="1">
                <a:solidFill>
                  <a:srgbClr val="0A84C6"/>
                </a:solidFill>
              </a:defRPr>
            </a:pPr>
            <a:r>
              <a:rPr sz="5250" b="1">
                <a:solidFill>
                  <a:srgbClr val="0A84C6"/>
                </a:solidFill>
              </a:rPr>
              <a:t>70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AD10AC4-BB95-47B7-B772-52BABFD244DD}"/>
              </a:ext>
            </a:extLst>
          </p:cNvPr>
          <p:cNvSpPr>
            <a:spLocks noGrp="1"/>
          </p:cNvSpPr>
          <p:nvPr/>
        </p:nvSpPr>
        <p:spPr>
          <a:xfrm>
            <a:off x="3143250" y="2266950"/>
            <a:ext cx="6667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0A84C6"/>
                </a:solidFill>
              </a:defRPr>
            </a:pPr>
            <a:r>
              <a:rPr sz="2850" b="1">
                <a:solidFill>
                  <a:srgbClr val="0A84C6"/>
                </a:solidFill>
              </a:rPr>
              <a:t>%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A84965-7522-4B19-B281-448ACE4328B7}"/>
              </a:ext>
            </a:extLst>
          </p:cNvPr>
          <p:cNvSpPr>
            <a:spLocks noGrp="1"/>
          </p:cNvSpPr>
          <p:nvPr/>
        </p:nvSpPr>
        <p:spPr>
          <a:xfrm>
            <a:off x="952500" y="3762375"/>
            <a:ext cx="2381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5250" b="1">
                <a:solidFill>
                  <a:srgbClr val="F5A524"/>
                </a:solidFill>
              </a:defRPr>
            </a:pPr>
            <a:r>
              <a:rPr sz="5250" b="1">
                <a:solidFill>
                  <a:srgbClr val="F5A524"/>
                </a:solidFill>
              </a:rPr>
              <a:t>30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67D45D6-65B7-410E-A22B-7D49C231B43D}"/>
              </a:ext>
            </a:extLst>
          </p:cNvPr>
          <p:cNvSpPr>
            <a:spLocks noGrp="1"/>
          </p:cNvSpPr>
          <p:nvPr/>
        </p:nvSpPr>
        <p:spPr>
          <a:xfrm>
            <a:off x="3143250" y="3857625"/>
            <a:ext cx="6667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F5A524"/>
                </a:solidFill>
              </a:defRPr>
            </a:pPr>
            <a:r>
              <a:rPr sz="2850" b="1">
                <a:solidFill>
                  <a:srgbClr val="F5A524"/>
                </a:solidFill>
              </a:rPr>
              <a:t>%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B2F38B8-B10D-4A25-9C42-1F59231A6588}"/>
              </a:ext>
            </a:extLst>
          </p:cNvPr>
          <p:cNvSpPr>
            <a:spLocks noGrp="1"/>
          </p:cNvSpPr>
          <p:nvPr/>
        </p:nvSpPr>
        <p:spPr>
          <a:xfrm>
            <a:off x="4191000" y="2381250"/>
            <a:ext cx="4800600" cy="514350"/>
          </a:xfrm>
          <a:prstGeom prst="rect">
            <a:avLst/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B8C79D6-6BB9-4A1B-BD20-5D32E6870140}"/>
              </a:ext>
            </a:extLst>
          </p:cNvPr>
          <p:cNvSpPr>
            <a:spLocks noGrp="1"/>
          </p:cNvSpPr>
          <p:nvPr/>
        </p:nvSpPr>
        <p:spPr>
          <a:xfrm>
            <a:off x="8991600" y="2381250"/>
            <a:ext cx="2057400" cy="514350"/>
          </a:xfrm>
          <a:prstGeom prst="rect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9200366-C4CF-481A-AE53-FE8F521EEAC7}"/>
              </a:ext>
            </a:extLst>
          </p:cNvPr>
          <p:cNvSpPr>
            <a:spLocks noGrp="1"/>
          </p:cNvSpPr>
          <p:nvPr/>
        </p:nvSpPr>
        <p:spPr>
          <a:xfrm>
            <a:off x="4191000" y="3095625"/>
            <a:ext cx="685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Pruebas escritas y prácticas de evaluación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36E052A-ACC1-43BC-874F-33CDC74F4739}"/>
              </a:ext>
            </a:extLst>
          </p:cNvPr>
          <p:cNvSpPr>
            <a:spLocks noGrp="1"/>
          </p:cNvSpPr>
          <p:nvPr/>
        </p:nvSpPr>
        <p:spPr>
          <a:xfrm>
            <a:off x="4191000" y="3857625"/>
            <a:ext cx="2057400" cy="514350"/>
          </a:xfrm>
          <a:prstGeom prst="rect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5E62021-B8E3-4508-A779-EE991E30524C}"/>
              </a:ext>
            </a:extLst>
          </p:cNvPr>
          <p:cNvSpPr>
            <a:spLocks noGrp="1"/>
          </p:cNvSpPr>
          <p:nvPr/>
        </p:nvSpPr>
        <p:spPr>
          <a:xfrm>
            <a:off x="4191000" y="4572000"/>
            <a:ext cx="685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Prácticas y tareas de aula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112C94A-89F7-49F2-AA77-62AC4962E0E8}"/>
              </a:ext>
            </a:extLst>
          </p:cNvPr>
          <p:cNvSpPr>
            <a:spLocks noGrp="1"/>
          </p:cNvSpPr>
          <p:nvPr/>
        </p:nvSpPr>
        <p:spPr>
          <a:xfrm>
            <a:off x="4191000" y="528637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E45C5C"/>
                </a:solidFill>
              </a:defRPr>
            </a:pPr>
            <a:r>
              <a:rPr sz="1650" b="1">
                <a:solidFill>
                  <a:srgbClr val="E45C5C"/>
                </a:solidFill>
              </a:rPr>
              <a:t>La entrega de prácticas es obligatoria.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902D0B3-CC3F-4BAF-B7CD-E076F620C2E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Sistemas Informáticos · 1.º DAM · 2026–2027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A168CB7-B4FD-4BBD-B834-F0B70B5F95D9}"/>
              </a:ext>
            </a:extLst>
          </p:cNvPr>
          <p:cNvSpPr>
            <a:spLocks noGrp="1"/>
          </p:cNvSpPr>
          <p:nvPr/>
        </p:nvSpPr>
        <p:spPr>
          <a:xfrm>
            <a:off x="10896600" y="647700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9454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ECCB4A3C-7EDB-41B9-8197-305F7678746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08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29AB32-C71C-42FF-B71B-0674B039263A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Aprobar exige equilibrio, constancia y evidencias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5246026-32CC-4BC9-8720-A0C1FD7152F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57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Tres condiciones sencillas que conviene tener presentes desde el primer día.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A9AF91D-B234-4E9D-BE0F-83E1A24677C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28575"/>
          </a:xfrm>
          <a:prstGeom prst="rect">
            <a:avLst/>
          </a:prstGeom>
          <a:solidFill>
            <a:srgbClr val="22C7E8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B55AB90-FA28-405D-9D25-CC9083347284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304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900" b="1">
                <a:solidFill>
                  <a:srgbClr val="0A84C6"/>
                </a:solidFill>
              </a:defRPr>
            </a:pPr>
            <a:r>
              <a:rPr sz="3900" b="1">
                <a:solidFill>
                  <a:srgbClr val="0A84C6"/>
                </a:solidFill>
              </a:rPr>
              <a:t>≥ 4,0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7DB8830-D175-4D24-A8EF-5165480F440A}"/>
              </a:ext>
            </a:extLst>
          </p:cNvPr>
          <p:cNvSpPr>
            <a:spLocks noGrp="1"/>
          </p:cNvSpPr>
          <p:nvPr/>
        </p:nvSpPr>
        <p:spPr>
          <a:xfrm>
            <a:off x="1381125" y="3257550"/>
            <a:ext cx="2000250" cy="28575"/>
          </a:xfrm>
          <a:prstGeom prst="rect">
            <a:avLst/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19EAE9-74EF-496E-AE6C-AB59E0F16527}"/>
              </a:ext>
            </a:extLst>
          </p:cNvPr>
          <p:cNvSpPr>
            <a:spLocks noGrp="1"/>
          </p:cNvSpPr>
          <p:nvPr/>
        </p:nvSpPr>
        <p:spPr>
          <a:xfrm>
            <a:off x="857250" y="352425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en cada bloque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A170F6A-43AC-4E40-84A8-7BC7501EF4F4}"/>
              </a:ext>
            </a:extLst>
          </p:cNvPr>
          <p:cNvSpPr>
            <a:spLocks noGrp="1"/>
          </p:cNvSpPr>
          <p:nvPr/>
        </p:nvSpPr>
        <p:spPr>
          <a:xfrm>
            <a:off x="1000125" y="4095750"/>
            <a:ext cx="276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Sin ese mínimo no se calcula la media.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51AFDF3-02DB-4AA5-BA88-B65C13CC1D48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304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900" b="1">
                <a:solidFill>
                  <a:srgbClr val="0A84C6"/>
                </a:solidFill>
              </a:defRPr>
            </a:pPr>
            <a:r>
              <a:rPr sz="3900" b="1">
                <a:solidFill>
                  <a:srgbClr val="0A84C6"/>
                </a:solidFill>
              </a:rPr>
              <a:t>≥ 5,0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10973A0-0DF6-4638-8E76-1D33A1C5BB7D}"/>
              </a:ext>
            </a:extLst>
          </p:cNvPr>
          <p:cNvSpPr>
            <a:spLocks noGrp="1"/>
          </p:cNvSpPr>
          <p:nvPr/>
        </p:nvSpPr>
        <p:spPr>
          <a:xfrm>
            <a:off x="5095875" y="3257550"/>
            <a:ext cx="2000250" cy="28575"/>
          </a:xfrm>
          <a:prstGeom prst="rect">
            <a:avLst/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8FBAD15-61B3-4A7B-8C3C-9F4C57F5DC37}"/>
              </a:ext>
            </a:extLst>
          </p:cNvPr>
          <p:cNvSpPr>
            <a:spLocks noGrp="1"/>
          </p:cNvSpPr>
          <p:nvPr/>
        </p:nvSpPr>
        <p:spPr>
          <a:xfrm>
            <a:off x="4572000" y="352425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como nota final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C5CC993-F15D-45BF-917A-A42BD88B93F2}"/>
              </a:ext>
            </a:extLst>
          </p:cNvPr>
          <p:cNvSpPr>
            <a:spLocks noGrp="1"/>
          </p:cNvSpPr>
          <p:nvPr/>
        </p:nvSpPr>
        <p:spPr>
          <a:xfrm>
            <a:off x="4714875" y="4095750"/>
            <a:ext cx="276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Después de aplicar la ponderación 70/30.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D29492E-DEA8-4702-8565-888BCBAE3083}"/>
              </a:ext>
            </a:extLst>
          </p:cNvPr>
          <p:cNvSpPr>
            <a:spLocks noGrp="1"/>
          </p:cNvSpPr>
          <p:nvPr/>
        </p:nvSpPr>
        <p:spPr>
          <a:xfrm>
            <a:off x="8286750" y="2333625"/>
            <a:ext cx="304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900" b="1">
                <a:solidFill>
                  <a:srgbClr val="F5A524"/>
                </a:solidFill>
              </a:defRPr>
            </a:pPr>
            <a:r>
              <a:rPr sz="3900" b="1">
                <a:solidFill>
                  <a:srgbClr val="F5A524"/>
                </a:solidFill>
              </a:rPr>
              <a:t>100 %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5F16910-0A8A-4588-8C67-60C1939BEE58}"/>
              </a:ext>
            </a:extLst>
          </p:cNvPr>
          <p:cNvSpPr>
            <a:spLocks noGrp="1"/>
          </p:cNvSpPr>
          <p:nvPr/>
        </p:nvSpPr>
        <p:spPr>
          <a:xfrm>
            <a:off x="8810625" y="3257550"/>
            <a:ext cx="2000250" cy="28575"/>
          </a:xfrm>
          <a:prstGeom prst="rect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F9AD6CE-982E-4B9C-92F1-99EF7606B439}"/>
              </a:ext>
            </a:extLst>
          </p:cNvPr>
          <p:cNvSpPr>
            <a:spLocks noGrp="1"/>
          </p:cNvSpPr>
          <p:nvPr/>
        </p:nvSpPr>
        <p:spPr>
          <a:xfrm>
            <a:off x="8286750" y="352425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de prácticas entregadas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61A7592-5816-43D4-8B23-CFF124C2155B}"/>
              </a:ext>
            </a:extLst>
          </p:cNvPr>
          <p:cNvSpPr>
            <a:spLocks noGrp="1"/>
          </p:cNvSpPr>
          <p:nvPr/>
        </p:nvSpPr>
        <p:spPr>
          <a:xfrm>
            <a:off x="8429625" y="4095750"/>
            <a:ext cx="276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Dentro de plazo y con evidencias suficientes.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A282AA1-7087-4D79-B973-D020AAD8128E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10477500" cy="552450"/>
          </a:xfrm>
          <a:prstGeom prst="roundRect">
            <a:avLst>
              <a:gd name="adj" fmla="val 20690"/>
            </a:avLst>
          </a:prstGeom>
          <a:solidFill>
            <a:srgbClr val="E9F4F8"/>
          </a:solidFill>
          <a:ln w="0">
            <a:noFill/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9F0FD7D-3F1D-42A0-9DE8-916C26DDB038}"/>
              </a:ext>
            </a:extLst>
          </p:cNvPr>
          <p:cNvSpPr>
            <a:spLocks noGrp="1"/>
          </p:cNvSpPr>
          <p:nvPr/>
        </p:nvSpPr>
        <p:spPr>
          <a:xfrm>
            <a:off x="1047750" y="5362575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0263A"/>
                </a:solidFill>
              </a:defRPr>
            </a:pPr>
            <a:r>
              <a:rPr sz="1425" b="1">
                <a:solidFill>
                  <a:srgbClr val="10263A"/>
                </a:solidFill>
              </a:rPr>
              <a:t>Las recuperaciones ordinaria y extraordinaria mantienen los requisitos establecidos.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EE311C1-1029-4E19-9F49-B6E5ED3B089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Sistemas Informáticos · 1.º DAM · 2026–2027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05FB3CF-CC10-4B2C-B807-80F103E42770}"/>
              </a:ext>
            </a:extLst>
          </p:cNvPr>
          <p:cNvSpPr>
            <a:spLocks noGrp="1"/>
          </p:cNvSpPr>
          <p:nvPr/>
        </p:nvSpPr>
        <p:spPr>
          <a:xfrm>
            <a:off x="10896600" y="647700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02600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02787210-8F85-45A2-AA0D-4FD217EC30E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09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A4578A1-6D76-488E-94B8-DBF68546612C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La profesionalidad también se aprende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EBE4967-A310-490C-AA31-97CBFCFD73A5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57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B9D7E4"/>
                </a:solidFill>
              </a:defRPr>
            </a:pPr>
            <a:r>
              <a:rPr sz="1350" b="0">
                <a:solidFill>
                  <a:srgbClr val="B9D7E4"/>
                </a:solidFill>
              </a:rPr>
              <a:t>Seguridad, autoría y comunicación forman parte del trabajo técnico.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669A9C7-4D5E-43BC-863B-2108911353A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28575"/>
          </a:xfrm>
          <a:prstGeom prst="rect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34E7E7-6AAE-46B7-85B9-A07BABC7E948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7DFF579-8C60-4A03-989F-5E0EC6A79B29}"/>
              </a:ext>
            </a:extLst>
          </p:cNvPr>
          <p:cNvSpPr>
            <a:spLocks noGrp="1"/>
          </p:cNvSpPr>
          <p:nvPr/>
        </p:nvSpPr>
        <p:spPr>
          <a:xfrm>
            <a:off x="1476375" y="2143125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COPIAS Y SNAPSHOTS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61F803B-8A3B-479D-87BD-BA1A04BEFD01}"/>
              </a:ext>
            </a:extLst>
          </p:cNvPr>
          <p:cNvSpPr>
            <a:spLocks noGrp="1"/>
          </p:cNvSpPr>
          <p:nvPr/>
        </p:nvSpPr>
        <p:spPr>
          <a:xfrm>
            <a:off x="4333875" y="2143125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Protege el sistema antes de cambios críticos.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A63D84D-B975-4C03-9EA5-8255280178FF}"/>
              </a:ext>
            </a:extLst>
          </p:cNvPr>
          <p:cNvSpPr>
            <a:spLocks noGrp="1"/>
          </p:cNvSpPr>
          <p:nvPr/>
        </p:nvSpPr>
        <p:spPr>
          <a:xfrm>
            <a:off x="1476375" y="2695575"/>
            <a:ext cx="9525000" cy="9525"/>
          </a:xfrm>
          <a:prstGeom prst="rect">
            <a:avLst/>
          </a:prstGeom>
          <a:solidFill>
            <a:srgbClr val="28475B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B886226-A7C7-4BC9-8BA7-850A2C569015}"/>
              </a:ext>
            </a:extLst>
          </p:cNvPr>
          <p:cNvSpPr>
            <a:spLocks noGrp="1"/>
          </p:cNvSpPr>
          <p:nvPr/>
        </p:nvSpPr>
        <p:spPr>
          <a:xfrm>
            <a:off x="714375" y="3019425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C928136-1A00-4CBB-A8DA-CC0C7BAAC0AF}"/>
              </a:ext>
            </a:extLst>
          </p:cNvPr>
          <p:cNvSpPr>
            <a:spLocks noGrp="1"/>
          </p:cNvSpPr>
          <p:nvPr/>
        </p:nvSpPr>
        <p:spPr>
          <a:xfrm>
            <a:off x="1476375" y="3019425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DATOS FICTICIOS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C5FA5CE-C6E5-4663-B709-C98DFD906C35}"/>
              </a:ext>
            </a:extLst>
          </p:cNvPr>
          <p:cNvSpPr>
            <a:spLocks noGrp="1"/>
          </p:cNvSpPr>
          <p:nvPr/>
        </p:nvSpPr>
        <p:spPr>
          <a:xfrm>
            <a:off x="4333875" y="3019425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No uses información personal real en prácticas.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47D3831-16B4-40AC-BF5C-6529BF14FB5F}"/>
              </a:ext>
            </a:extLst>
          </p:cNvPr>
          <p:cNvSpPr>
            <a:spLocks noGrp="1"/>
          </p:cNvSpPr>
          <p:nvPr/>
        </p:nvSpPr>
        <p:spPr>
          <a:xfrm>
            <a:off x="1476375" y="3571875"/>
            <a:ext cx="9525000" cy="9525"/>
          </a:xfrm>
          <a:prstGeom prst="rect">
            <a:avLst/>
          </a:prstGeom>
          <a:solidFill>
            <a:srgbClr val="28475B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A59A956-8714-4751-9CCC-AA1D3018CAC9}"/>
              </a:ext>
            </a:extLst>
          </p:cNvPr>
          <p:cNvSpPr>
            <a:spLocks noGrp="1"/>
          </p:cNvSpPr>
          <p:nvPr/>
        </p:nvSpPr>
        <p:spPr>
          <a:xfrm>
            <a:off x="714375" y="3895725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2B561A5-1B18-46A0-AADE-8DF379A88A00}"/>
              </a:ext>
            </a:extLst>
          </p:cNvPr>
          <p:cNvSpPr>
            <a:spLocks noGrp="1"/>
          </p:cNvSpPr>
          <p:nvPr/>
        </p:nvSpPr>
        <p:spPr>
          <a:xfrm>
            <a:off x="1476375" y="3895725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CERO PLAGIO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F00738B-617A-42A4-AF8D-079C3F1D645A}"/>
              </a:ext>
            </a:extLst>
          </p:cNvPr>
          <p:cNvSpPr>
            <a:spLocks noGrp="1"/>
          </p:cNvSpPr>
          <p:nvPr/>
        </p:nvSpPr>
        <p:spPr>
          <a:xfrm>
            <a:off x="4333875" y="3895725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Consultar es válido; copiar sin comprender, no.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6F6312F-0AA4-4642-B711-6922506B982F}"/>
              </a:ext>
            </a:extLst>
          </p:cNvPr>
          <p:cNvSpPr>
            <a:spLocks noGrp="1"/>
          </p:cNvSpPr>
          <p:nvPr/>
        </p:nvSpPr>
        <p:spPr>
          <a:xfrm>
            <a:off x="1476375" y="4448175"/>
            <a:ext cx="9525000" cy="9525"/>
          </a:xfrm>
          <a:prstGeom prst="rect">
            <a:avLst/>
          </a:prstGeom>
          <a:solidFill>
            <a:srgbClr val="28475B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194058C-81DD-47AA-8E9D-61D5683A685E}"/>
              </a:ext>
            </a:extLst>
          </p:cNvPr>
          <p:cNvSpPr>
            <a:spLocks noGrp="1"/>
          </p:cNvSpPr>
          <p:nvPr/>
        </p:nvSpPr>
        <p:spPr>
          <a:xfrm>
            <a:off x="714375" y="4772025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04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6B96D10-AE4B-4F2B-A6F2-6D56D6D7A54E}"/>
              </a:ext>
            </a:extLst>
          </p:cNvPr>
          <p:cNvSpPr>
            <a:spLocks noGrp="1"/>
          </p:cNvSpPr>
          <p:nvPr/>
        </p:nvSpPr>
        <p:spPr>
          <a:xfrm>
            <a:off x="1476375" y="4772025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IA RESPONSABLE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AB74551-61FC-4D10-90DD-F5D8129F3248}"/>
              </a:ext>
            </a:extLst>
          </p:cNvPr>
          <p:cNvSpPr>
            <a:spLocks noGrp="1"/>
          </p:cNvSpPr>
          <p:nvPr/>
        </p:nvSpPr>
        <p:spPr>
          <a:xfrm>
            <a:off x="4333875" y="4772025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Declara su uso y verifica siempre el resultado.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DDC78CD-5021-433F-A7F9-093497AD900A}"/>
              </a:ext>
            </a:extLst>
          </p:cNvPr>
          <p:cNvSpPr>
            <a:spLocks noGrp="1"/>
          </p:cNvSpPr>
          <p:nvPr/>
        </p:nvSpPr>
        <p:spPr>
          <a:xfrm>
            <a:off x="1476375" y="5324475"/>
            <a:ext cx="9525000" cy="9525"/>
          </a:xfrm>
          <a:prstGeom prst="rect">
            <a:avLst/>
          </a:prstGeom>
          <a:solidFill>
            <a:srgbClr val="28475B"/>
          </a:solidFill>
          <a:ln w="0">
            <a:noFill/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4BE5E86-10AD-4A0E-9651-10664B37886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Sistemas Informáticos · 1.º DAM · 2026–2027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68F87FD-DA4A-47BB-B365-3D52931BCF30}"/>
              </a:ext>
            </a:extLst>
          </p:cNvPr>
          <p:cNvSpPr>
            <a:spLocks noGrp="1"/>
          </p:cNvSpPr>
          <p:nvPr/>
        </p:nvSpPr>
        <p:spPr>
          <a:xfrm>
            <a:off x="10896600" y="647700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7091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E16C36FD-9267-471F-8F03-A77DE12058C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10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9048E64-4A2F-4187-A8BC-304C3A517C41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La primera semana termina con un sistema reproducible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B8E2DE6-6078-4D71-9615-DBC359FEBFD4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57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Primer reto: crear, verificar y documentar una máquina virtual Linux.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0113F92-2E98-4D29-988E-50045949D33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28575"/>
          </a:xfrm>
          <a:prstGeom prst="rect">
            <a:avLst/>
          </a:prstGeom>
          <a:solidFill>
            <a:srgbClr val="22C7E8"/>
          </a:solidFill>
          <a:ln w="0">
            <a:noFill/>
            <a:prstDash val="solid"/>
          </a:ln>
        </p:spPr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5EAD125-0598-487A-8EA0-91EE80CFB002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361950" cy="361950"/>
          </a:xfrm>
          <a:prstGeom prst="roundRect">
            <a:avLst>
              <a:gd name="adj" fmla="val 31579"/>
            </a:avLst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BD508FB-EB21-40C9-B767-838D92705CF3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E22B3F9-5A1D-41F0-A2CA-5ADBECADE6CE}"/>
              </a:ext>
            </a:extLst>
          </p:cNvPr>
          <p:cNvSpPr>
            <a:spLocks noGrp="1"/>
          </p:cNvSpPr>
          <p:nvPr/>
        </p:nvSpPr>
        <p:spPr>
          <a:xfrm>
            <a:off x="1476375" y="217170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0263A"/>
                </a:solidFill>
              </a:defRPr>
            </a:pPr>
            <a:r>
              <a:rPr sz="1500" b="0">
                <a:solidFill>
                  <a:srgbClr val="10263A"/>
                </a:solidFill>
              </a:rPr>
              <a:t>Crear una VM Ubuntu LTS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2DB728B-909B-412B-BF77-8DA7E48D9BBF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361950" cy="361950"/>
          </a:xfrm>
          <a:prstGeom prst="roundRect">
            <a:avLst>
              <a:gd name="adj" fmla="val 31579"/>
            </a:avLst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C72B655-E484-418C-B70A-607BF1A35DC0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FA4AD48-A8E0-4367-8ABB-F4E70AD95571}"/>
              </a:ext>
            </a:extLst>
          </p:cNvPr>
          <p:cNvSpPr>
            <a:spLocks noGrp="1"/>
          </p:cNvSpPr>
          <p:nvPr/>
        </p:nvSpPr>
        <p:spPr>
          <a:xfrm>
            <a:off x="1476375" y="285750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0263A"/>
                </a:solidFill>
              </a:defRPr>
            </a:pPr>
            <a:r>
              <a:rPr sz="1500" b="0">
                <a:solidFill>
                  <a:srgbClr val="10263A"/>
                </a:solidFill>
              </a:rPr>
              <a:t>Asignar 2 CPU, 4 GB RAM y 25 GB dinámicos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6F5220B-7D22-465B-9424-E78B1BDC5E33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361950" cy="361950"/>
          </a:xfrm>
          <a:prstGeom prst="roundRect">
            <a:avLst>
              <a:gd name="adj" fmla="val 31579"/>
            </a:avLst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2243CE5-0894-4830-A02E-12914385C2E0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86A540-9B19-4918-B774-A41A72EECFB2}"/>
              </a:ext>
            </a:extLst>
          </p:cNvPr>
          <p:cNvSpPr>
            <a:spLocks noGrp="1"/>
          </p:cNvSpPr>
          <p:nvPr/>
        </p:nvSpPr>
        <p:spPr>
          <a:xfrm>
            <a:off x="1476375" y="354330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0263A"/>
                </a:solidFill>
              </a:defRPr>
            </a:pPr>
            <a:r>
              <a:rPr sz="1500" b="0">
                <a:solidFill>
                  <a:srgbClr val="10263A"/>
                </a:solidFill>
              </a:rPr>
              <a:t>Instalar y actualizar el sistema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A12C74B-4AB0-4F7A-A899-063F49FF9F55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361950" cy="361950"/>
          </a:xfrm>
          <a:prstGeom prst="roundRect">
            <a:avLst>
              <a:gd name="adj" fmla="val 31579"/>
            </a:avLst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AC702AA-0302-4BD6-9F0A-FE6E121F8486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5A092CD-6157-4CE6-924B-1CDDB6D6255C}"/>
              </a:ext>
            </a:extLst>
          </p:cNvPr>
          <p:cNvSpPr>
            <a:spLocks noGrp="1"/>
          </p:cNvSpPr>
          <p:nvPr/>
        </p:nvSpPr>
        <p:spPr>
          <a:xfrm>
            <a:off x="1476375" y="422910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0263A"/>
                </a:solidFill>
              </a:defRPr>
            </a:pPr>
            <a:r>
              <a:rPr sz="1500" b="0">
                <a:solidFill>
                  <a:srgbClr val="10263A"/>
                </a:solidFill>
              </a:rPr>
              <a:t>Crear la instantánea “Base limpia”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8494965C-349C-4D93-A424-3F02E0F8393E}"/>
              </a:ext>
            </a:extLst>
          </p:cNvPr>
          <p:cNvSpPr>
            <a:spLocks noGrp="1"/>
          </p:cNvSpPr>
          <p:nvPr/>
        </p:nvSpPr>
        <p:spPr>
          <a:xfrm>
            <a:off x="876300" y="4933950"/>
            <a:ext cx="361950" cy="361950"/>
          </a:xfrm>
          <a:prstGeom prst="roundRect">
            <a:avLst>
              <a:gd name="adj" fmla="val 31579"/>
            </a:avLst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71B39A3-7DC6-49B6-A177-C74AD556C255}"/>
              </a:ext>
            </a:extLst>
          </p:cNvPr>
          <p:cNvSpPr>
            <a:spLocks noGrp="1"/>
          </p:cNvSpPr>
          <p:nvPr/>
        </p:nvSpPr>
        <p:spPr>
          <a:xfrm>
            <a:off x="876300" y="49339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D11C738-0F6E-4AC5-BC11-5F0D860993C8}"/>
              </a:ext>
            </a:extLst>
          </p:cNvPr>
          <p:cNvSpPr>
            <a:spLocks noGrp="1"/>
          </p:cNvSpPr>
          <p:nvPr/>
        </p:nvSpPr>
        <p:spPr>
          <a:xfrm>
            <a:off x="1476375" y="4914900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63A"/>
                </a:solidFill>
              </a:defRPr>
            </a:pPr>
            <a:r>
              <a:rPr sz="1500" b="1">
                <a:solidFill>
                  <a:srgbClr val="10263A"/>
                </a:solidFill>
              </a:rPr>
              <a:t>Comprobar red y documentar el proceso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E9BC2C6-582D-4511-902B-41A35779AB6E}"/>
              </a:ext>
            </a:extLst>
          </p:cNvPr>
          <p:cNvSpPr>
            <a:spLocks noGrp="1"/>
          </p:cNvSpPr>
          <p:nvPr/>
        </p:nvSpPr>
        <p:spPr>
          <a:xfrm>
            <a:off x="1476375" y="5753100"/>
            <a:ext cx="923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A84C6"/>
                </a:solidFill>
              </a:defRPr>
            </a:pPr>
            <a:r>
              <a:rPr sz="1500" b="1">
                <a:solidFill>
                  <a:srgbClr val="0A84C6"/>
                </a:solidFill>
              </a:rPr>
              <a:t>Objetivo: que otra persona pueda repetir tu trabajo siguiendo tus evidencias.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02C0672-C6ED-4ED2-AB34-24E1474D5F7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Sistemas Informáticos · 1.º DAM · 2026–2027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FFEC64B-8030-4915-9158-8C26B0C31E2C}"/>
              </a:ext>
            </a:extLst>
          </p:cNvPr>
          <p:cNvSpPr>
            <a:spLocks noGrp="1"/>
          </p:cNvSpPr>
          <p:nvPr/>
        </p:nvSpPr>
        <p:spPr>
          <a:xfrm>
            <a:off x="10896600" y="647700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4055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241ECEB-73AC-4144-B505-C285238592C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52500" cy="57150"/>
          </a:xfrm>
          <a:prstGeom prst="rect">
            <a:avLst/>
          </a:prstGeom>
          <a:solidFill>
            <a:srgbClr val="F5A524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4AF556D-91B6-4BB9-A04E-7C4C93B1F578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Empezamos construyendo</a:t>
            </a:r>
          </a:p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nuestro laboratorio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3177407-8D4D-478A-9659-C53C468D5BA7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752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B9D7E4"/>
                </a:solidFill>
              </a:defRPr>
            </a:pPr>
            <a:r>
              <a:rPr sz="1725" b="0">
                <a:solidFill>
                  <a:srgbClr val="B9D7E4"/>
                </a:solidFill>
              </a:rPr>
              <a:t>Consulta la teoría, prepara tus dudas y documenta cada avance.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75A1B15-4C8B-4348-B56E-21F6C43C4DD5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TEORÍA Y MATERIALES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F9A9DDB-8ED9-4535-85F4-ED74AA794856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790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davidmolinafernadez.github.io/DAM-SI/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6C8EF8B-D787-4DC1-B9D4-15AB23DAFE8C}"/>
              </a:ext>
            </a:extLst>
          </p:cNvPr>
          <p:cNvSpPr>
            <a:spLocks noGrp="1"/>
          </p:cNvSpPr>
          <p:nvPr/>
        </p:nvSpPr>
        <p:spPr>
          <a:xfrm>
            <a:off x="723900" y="5048250"/>
            <a:ext cx="5619750" cy="19050"/>
          </a:xfrm>
          <a:prstGeom prst="rect">
            <a:avLst/>
          </a:prstGeom>
          <a:solidFill>
            <a:srgbClr val="28475B"/>
          </a:solidFill>
          <a:ln w="0">
            <a:noFill/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3A9368C-3851-4231-A7F0-EEC0DB6A7723}"/>
              </a:ext>
            </a:extLst>
          </p:cNvPr>
          <p:cNvSpPr>
            <a:spLocks noGrp="1"/>
          </p:cNvSpPr>
          <p:nvPr/>
        </p:nvSpPr>
        <p:spPr>
          <a:xfrm>
            <a:off x="723900" y="5286375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B9D7E4"/>
                </a:solidFill>
              </a:defRPr>
            </a:pPr>
            <a:r>
              <a:rPr sz="1350" b="0">
                <a:solidFill>
                  <a:srgbClr val="B9D7E4"/>
                </a:solidFill>
              </a:rPr>
              <a:t>Aula virtual · Correo oficial del centro · Repositorio docente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B006DB8-2C90-4869-A0E4-AEBEAA9AE51E}"/>
              </a:ext>
            </a:extLst>
          </p:cNvPr>
          <p:cNvSpPr>
            <a:spLocks noGrp="1"/>
          </p:cNvSpPr>
          <p:nvPr/>
        </p:nvSpPr>
        <p:spPr>
          <a:xfrm>
            <a:off x="8763000" y="1000125"/>
            <a:ext cx="2333625" cy="2333625"/>
          </a:xfrm>
          <a:prstGeom prst="roundRect">
            <a:avLst>
              <a:gd name="adj" fmla="val 4898"/>
            </a:avLst>
          </a:prstGeom>
          <a:solidFill>
            <a:srgbClr val="0A84C6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7262722-5D37-46C0-9905-464007E97ECD}"/>
              </a:ext>
            </a:extLst>
          </p:cNvPr>
          <p:cNvSpPr>
            <a:spLocks noGrp="1"/>
          </p:cNvSpPr>
          <p:nvPr/>
        </p:nvSpPr>
        <p:spPr>
          <a:xfrm>
            <a:off x="8763000" y="1000125"/>
            <a:ext cx="2333625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SI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6B38CD2-F104-4A44-88A2-6B8C7C319BA4}"/>
              </a:ext>
            </a:extLst>
          </p:cNvPr>
          <p:cNvSpPr>
            <a:spLocks noGrp="1"/>
          </p:cNvSpPr>
          <p:nvPr/>
        </p:nvSpPr>
        <p:spPr>
          <a:xfrm>
            <a:off x="8763000" y="3571875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2026–2027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7B54AC6-EF81-4861-91B6-74FA4969398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Sistemas Informáticos · 1.º DAM · 2026–2027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2934AEC-AEAD-4392-8B3E-E389FDD7B792}"/>
              </a:ext>
            </a:extLst>
          </p:cNvPr>
          <p:cNvSpPr>
            <a:spLocks noGrp="1"/>
          </p:cNvSpPr>
          <p:nvPr/>
        </p:nvSpPr>
        <p:spPr>
          <a:xfrm>
            <a:off x="10896600" y="647700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8508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749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4717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1169</Words>
  <Application>Microsoft Office PowerPoint</Application>
  <DocSecurity>0</DocSecurity>
  <PresentationFormat>Panorámica</PresentationFormat>
  <Paragraphs>232</Paragraphs>
  <Slides>14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molina</cp:lastModifiedBy>
  <cp:revision>2</cp:revision>
  <dcterms:created xsi:type="dcterms:W3CDTF">2026-08-24T07:32:45Z</dcterms:created>
  <dcterms:modified xsi:type="dcterms:W3CDTF">2026-09-04T04:26:08Z</dcterms:modified>
</cp:coreProperties>
</file>